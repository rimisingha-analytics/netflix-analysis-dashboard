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72" r:id="rId15"/>
    <p:sldId id="268" r:id="rId16"/>
    <p:sldId id="269" r:id="rId17"/>
    <p:sldId id="273" r:id="rId1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20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3BFBF-0550-8EFA-3EE5-EAF29737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548B7E-F1C8-50B8-DB2D-81A439235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74128-7012-7EE1-B664-D786966CA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07C43-52A3-8EAC-6BF1-686406B534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339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E7104-AC33-D9A8-E40F-BA843C300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0BBB8-A733-5968-E418-78239A2FB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24237-E6A6-11DF-D22E-91BF33B62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792B0-5F4B-5D5F-3C1B-41A4EBA05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31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63314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9190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93284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241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4943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0530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5614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642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5502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7780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4328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3876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fif"/><Relationship Id="rId4" Type="http://schemas.openxmlformats.org/officeDocument/2006/relationships/image" Target="../media/image3.jf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f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nkedin.com/in/rimi-singha-3093b532b" TargetMode="External"/><Relationship Id="rId3" Type="http://schemas.openxmlformats.org/officeDocument/2006/relationships/image" Target="../media/image13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mailto:rimi.singha01@gmail.com" TargetMode="Externa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BotBar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RedLine"/>
          <p:cNvSpPr/>
          <p:nvPr/>
        </p:nvSpPr>
        <p:spPr>
          <a:xfrm>
            <a:off x="0" y="3794760"/>
            <a:ext cx="914400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itle"/>
          <p:cNvSpPr/>
          <p:nvPr/>
        </p:nvSpPr>
        <p:spPr>
          <a:xfrm>
            <a:off x="347031" y="1074420"/>
            <a:ext cx="5503587" cy="8229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0914"/>
                </a:solidFill>
                <a:latin typeface="Calibri" pitchFamily="34" charset="0"/>
              </a:rPr>
              <a:t>Netflix Data Analysis</a:t>
            </a:r>
          </a:p>
        </p:txBody>
      </p:sp>
      <p:sp>
        <p:nvSpPr>
          <p:cNvPr id="7" name="Tag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</a:rPr>
              <a:t>Exploring Content, Genres, Ratings &amp; Trends</a:t>
            </a:r>
          </a:p>
        </p:txBody>
      </p:sp>
      <p:sp>
        <p:nvSpPr>
          <p:cNvPr id="8" name="Tools"/>
          <p:cNvSpPr/>
          <p:nvPr/>
        </p:nvSpPr>
        <p:spPr>
          <a:xfrm>
            <a:off x="347031" y="4083429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</a:rPr>
              <a:t>Python  •  Pandas  •  Matplotlib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A6896E-05DB-D9E2-9BD6-366DEC00BB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66" t="20230" r="37558" b="21735"/>
          <a:stretch>
            <a:fillRect/>
          </a:stretch>
        </p:blipFill>
        <p:spPr>
          <a:xfrm>
            <a:off x="6143226" y="439132"/>
            <a:ext cx="2612320" cy="29242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1D1F6B-5E20-D215-5088-FEBEBFE1347F}"/>
              </a:ext>
            </a:extLst>
          </p:cNvPr>
          <p:cNvSpPr txBox="1"/>
          <p:nvPr/>
        </p:nvSpPr>
        <p:spPr>
          <a:xfrm>
            <a:off x="5976013" y="4532411"/>
            <a:ext cx="30033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mo Italics" panose="020B0604020202020204" charset="0"/>
                <a:ea typeface="Arimo Italics" panose="020B0604020202020204" charset="0"/>
                <a:cs typeface="Arimo Italics" panose="020B0604020202020204" charset="0"/>
              </a:rPr>
              <a:t>Presented by  --  Rimi Singha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Table of Contents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FA75687-B2BB-8FFD-5666-05004F2BEB2E}"/>
              </a:ext>
            </a:extLst>
          </p:cNvPr>
          <p:cNvGrpSpPr/>
          <p:nvPr/>
        </p:nvGrpSpPr>
        <p:grpSpPr>
          <a:xfrm>
            <a:off x="365760" y="1078992"/>
            <a:ext cx="8759952" cy="3882994"/>
            <a:chOff x="365760" y="1097280"/>
            <a:chExt cx="8759952" cy="4224528"/>
          </a:xfrm>
        </p:grpSpPr>
        <p:sp>
          <p:nvSpPr>
            <p:cNvPr id="20" name="Box01"/>
            <p:cNvSpPr/>
            <p:nvPr/>
          </p:nvSpPr>
          <p:spPr>
            <a:xfrm>
              <a:off x="365760" y="1161288"/>
              <a:ext cx="438912" cy="347472"/>
            </a:xfrm>
            <a:prstGeom prst="rect">
              <a:avLst/>
            </a:prstGeom>
            <a:solidFill>
              <a:srgbClr val="E50914"/>
            </a:solidFill>
            <a:ln/>
          </p:spPr>
        </p:sp>
        <p:sp>
          <p:nvSpPr>
            <p:cNvPr id="21" name="Num01"/>
            <p:cNvSpPr/>
            <p:nvPr/>
          </p:nvSpPr>
          <p:spPr>
            <a:xfrm>
              <a:off x="365760" y="1161288"/>
              <a:ext cx="438912" cy="347472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</a:rPr>
                <a:t>01</a:t>
              </a:r>
            </a:p>
          </p:txBody>
        </p:sp>
        <p:sp>
          <p:nvSpPr>
            <p:cNvPr id="22" name="Lbl01"/>
            <p:cNvSpPr/>
            <p:nvPr/>
          </p:nvSpPr>
          <p:spPr>
            <a:xfrm>
              <a:off x="896112" y="1097280"/>
              <a:ext cx="3840480" cy="47548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400" dirty="0">
                  <a:latin typeface="Calibri" pitchFamily="34" charset="0"/>
                </a:rPr>
                <a:t>Project Overview</a:t>
              </a:r>
            </a:p>
          </p:txBody>
        </p:sp>
        <p:sp>
          <p:nvSpPr>
            <p:cNvPr id="23" name="Box02"/>
            <p:cNvSpPr/>
            <p:nvPr/>
          </p:nvSpPr>
          <p:spPr>
            <a:xfrm>
              <a:off x="365760" y="1911096"/>
              <a:ext cx="438912" cy="347472"/>
            </a:xfrm>
            <a:prstGeom prst="rect">
              <a:avLst/>
            </a:prstGeom>
            <a:solidFill>
              <a:srgbClr val="E50914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Num02"/>
            <p:cNvSpPr/>
            <p:nvPr/>
          </p:nvSpPr>
          <p:spPr>
            <a:xfrm>
              <a:off x="365760" y="1911096"/>
              <a:ext cx="438912" cy="347472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25" name="Lbl02"/>
            <p:cNvSpPr/>
            <p:nvPr/>
          </p:nvSpPr>
          <p:spPr>
            <a:xfrm>
              <a:off x="896112" y="1847088"/>
              <a:ext cx="3840480" cy="47548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400" dirty="0">
                  <a:latin typeface="Calibri" pitchFamily="34" charset="0"/>
                </a:rPr>
                <a:t>Dataset &amp; Columns</a:t>
              </a:r>
            </a:p>
          </p:txBody>
        </p:sp>
        <p:sp>
          <p:nvSpPr>
            <p:cNvPr id="26" name="Box03"/>
            <p:cNvSpPr/>
            <p:nvPr/>
          </p:nvSpPr>
          <p:spPr>
            <a:xfrm>
              <a:off x="365760" y="2660904"/>
              <a:ext cx="438912" cy="347472"/>
            </a:xfrm>
            <a:prstGeom prst="rect">
              <a:avLst/>
            </a:prstGeom>
            <a:solidFill>
              <a:srgbClr val="E50914"/>
            </a:solidFill>
            <a:ln/>
          </p:spPr>
        </p:sp>
        <p:sp>
          <p:nvSpPr>
            <p:cNvPr id="27" name="Num03"/>
            <p:cNvSpPr/>
            <p:nvPr/>
          </p:nvSpPr>
          <p:spPr>
            <a:xfrm>
              <a:off x="365760" y="2660904"/>
              <a:ext cx="438912" cy="347472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28" name="Lbl03"/>
            <p:cNvSpPr/>
            <p:nvPr/>
          </p:nvSpPr>
          <p:spPr>
            <a:xfrm>
              <a:off x="896112" y="2596896"/>
              <a:ext cx="3840480" cy="47548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400" dirty="0">
                  <a:latin typeface="Calibri" pitchFamily="34" charset="0"/>
                </a:rPr>
                <a:t>Key Statistics</a:t>
              </a:r>
            </a:p>
          </p:txBody>
        </p:sp>
        <p:sp>
          <p:nvSpPr>
            <p:cNvPr id="29" name="Box04"/>
            <p:cNvSpPr/>
            <p:nvPr/>
          </p:nvSpPr>
          <p:spPr>
            <a:xfrm>
              <a:off x="365760" y="3410712"/>
              <a:ext cx="438912" cy="347472"/>
            </a:xfrm>
            <a:prstGeom prst="rect">
              <a:avLst/>
            </a:prstGeom>
            <a:solidFill>
              <a:srgbClr val="E50914"/>
            </a:solidFill>
            <a:ln/>
          </p:spPr>
        </p:sp>
        <p:sp>
          <p:nvSpPr>
            <p:cNvPr id="30" name="Num04"/>
            <p:cNvSpPr/>
            <p:nvPr/>
          </p:nvSpPr>
          <p:spPr>
            <a:xfrm>
              <a:off x="365760" y="3410712"/>
              <a:ext cx="438912" cy="347472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</a:rPr>
                <a:t>04</a:t>
              </a:r>
            </a:p>
          </p:txBody>
        </p:sp>
        <p:sp>
          <p:nvSpPr>
            <p:cNvPr id="31" name="Lbl04"/>
            <p:cNvSpPr/>
            <p:nvPr/>
          </p:nvSpPr>
          <p:spPr>
            <a:xfrm>
              <a:off x="896112" y="3346704"/>
              <a:ext cx="3840480" cy="47548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400" dirty="0">
                  <a:latin typeface="Calibri" pitchFamily="34" charset="0"/>
                </a:rPr>
                <a:t>Movies vs TV Shows</a:t>
              </a:r>
            </a:p>
          </p:txBody>
        </p:sp>
        <p:sp>
          <p:nvSpPr>
            <p:cNvPr id="32" name="Box05"/>
            <p:cNvSpPr/>
            <p:nvPr/>
          </p:nvSpPr>
          <p:spPr>
            <a:xfrm>
              <a:off x="365760" y="4160520"/>
              <a:ext cx="438912" cy="347472"/>
            </a:xfrm>
            <a:prstGeom prst="rect">
              <a:avLst/>
            </a:prstGeom>
            <a:solidFill>
              <a:srgbClr val="E50914"/>
            </a:solidFill>
            <a:ln/>
          </p:spPr>
        </p:sp>
        <p:sp>
          <p:nvSpPr>
            <p:cNvPr id="33" name="Num05"/>
            <p:cNvSpPr/>
            <p:nvPr/>
          </p:nvSpPr>
          <p:spPr>
            <a:xfrm>
              <a:off x="365760" y="4160520"/>
              <a:ext cx="438912" cy="347472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</a:rPr>
                <a:t>05</a:t>
              </a:r>
            </a:p>
          </p:txBody>
        </p:sp>
        <p:sp>
          <p:nvSpPr>
            <p:cNvPr id="34" name="Lbl05"/>
            <p:cNvSpPr/>
            <p:nvPr/>
          </p:nvSpPr>
          <p:spPr>
            <a:xfrm>
              <a:off x="896112" y="4096512"/>
              <a:ext cx="3840480" cy="47548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400" dirty="0">
                  <a:latin typeface="Calibri" pitchFamily="34" charset="0"/>
                </a:rPr>
                <a:t>Top Countries</a:t>
              </a:r>
            </a:p>
          </p:txBody>
        </p:sp>
        <p:sp>
          <p:nvSpPr>
            <p:cNvPr id="35" name="Box06"/>
            <p:cNvSpPr/>
            <p:nvPr/>
          </p:nvSpPr>
          <p:spPr>
            <a:xfrm>
              <a:off x="365760" y="4910328"/>
              <a:ext cx="438912" cy="347472"/>
            </a:xfrm>
            <a:prstGeom prst="rect">
              <a:avLst/>
            </a:prstGeom>
            <a:solidFill>
              <a:srgbClr val="E50914"/>
            </a:solidFill>
            <a:ln/>
          </p:spPr>
        </p:sp>
        <p:sp>
          <p:nvSpPr>
            <p:cNvPr id="36" name="Num06"/>
            <p:cNvSpPr/>
            <p:nvPr/>
          </p:nvSpPr>
          <p:spPr>
            <a:xfrm>
              <a:off x="365760" y="4910328"/>
              <a:ext cx="438912" cy="347472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</a:rPr>
                <a:t>06</a:t>
              </a:r>
            </a:p>
          </p:txBody>
        </p:sp>
        <p:sp>
          <p:nvSpPr>
            <p:cNvPr id="37" name="Lbl06"/>
            <p:cNvSpPr/>
            <p:nvPr/>
          </p:nvSpPr>
          <p:spPr>
            <a:xfrm>
              <a:off x="896112" y="4846320"/>
              <a:ext cx="3840480" cy="47548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400" dirty="0">
                  <a:latin typeface="Calibri" pitchFamily="34" charset="0"/>
                </a:rPr>
                <a:t>Rating Distribution</a:t>
              </a:r>
            </a:p>
          </p:txBody>
        </p:sp>
        <p:sp>
          <p:nvSpPr>
            <p:cNvPr id="38" name="Box07"/>
            <p:cNvSpPr/>
            <p:nvPr/>
          </p:nvSpPr>
          <p:spPr>
            <a:xfrm>
              <a:off x="4754880" y="1161288"/>
              <a:ext cx="438912" cy="347472"/>
            </a:xfrm>
            <a:prstGeom prst="rect">
              <a:avLst/>
            </a:prstGeom>
            <a:solidFill>
              <a:srgbClr val="E50914"/>
            </a:solidFill>
            <a:ln/>
          </p:spPr>
        </p:sp>
        <p:sp>
          <p:nvSpPr>
            <p:cNvPr id="39" name="Num07"/>
            <p:cNvSpPr/>
            <p:nvPr/>
          </p:nvSpPr>
          <p:spPr>
            <a:xfrm>
              <a:off x="4754880" y="1161288"/>
              <a:ext cx="438912" cy="347472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</a:rPr>
                <a:t>07</a:t>
              </a:r>
            </a:p>
          </p:txBody>
        </p:sp>
        <p:sp>
          <p:nvSpPr>
            <p:cNvPr id="40" name="Lbl07"/>
            <p:cNvSpPr/>
            <p:nvPr/>
          </p:nvSpPr>
          <p:spPr>
            <a:xfrm>
              <a:off x="5285232" y="1097280"/>
              <a:ext cx="3840480" cy="47548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400" dirty="0">
                  <a:latin typeface="Calibri" pitchFamily="34" charset="0"/>
                </a:rPr>
                <a:t>Top Genres</a:t>
              </a:r>
            </a:p>
          </p:txBody>
        </p:sp>
        <p:sp>
          <p:nvSpPr>
            <p:cNvPr id="41" name="Box08"/>
            <p:cNvSpPr/>
            <p:nvPr/>
          </p:nvSpPr>
          <p:spPr>
            <a:xfrm>
              <a:off x="4754880" y="1911096"/>
              <a:ext cx="438912" cy="347472"/>
            </a:xfrm>
            <a:prstGeom prst="rect">
              <a:avLst/>
            </a:prstGeom>
            <a:solidFill>
              <a:srgbClr val="E50914"/>
            </a:solidFill>
            <a:ln/>
          </p:spPr>
        </p:sp>
        <p:sp>
          <p:nvSpPr>
            <p:cNvPr id="42" name="Num08"/>
            <p:cNvSpPr/>
            <p:nvPr/>
          </p:nvSpPr>
          <p:spPr>
            <a:xfrm>
              <a:off x="4754880" y="1911096"/>
              <a:ext cx="438912" cy="347472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</a:rPr>
                <a:t>08</a:t>
              </a:r>
            </a:p>
          </p:txBody>
        </p:sp>
        <p:sp>
          <p:nvSpPr>
            <p:cNvPr id="43" name="Lbl08"/>
            <p:cNvSpPr/>
            <p:nvPr/>
          </p:nvSpPr>
          <p:spPr>
            <a:xfrm>
              <a:off x="5285232" y="1847088"/>
              <a:ext cx="3840480" cy="47548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400" dirty="0">
                  <a:latin typeface="Calibri" pitchFamily="34" charset="0"/>
                </a:rPr>
                <a:t>Yearly Content Trend</a:t>
              </a:r>
            </a:p>
          </p:txBody>
        </p:sp>
        <p:sp>
          <p:nvSpPr>
            <p:cNvPr id="44" name="Box09"/>
            <p:cNvSpPr/>
            <p:nvPr/>
          </p:nvSpPr>
          <p:spPr>
            <a:xfrm>
              <a:off x="4754880" y="2660904"/>
              <a:ext cx="438912" cy="347472"/>
            </a:xfrm>
            <a:prstGeom prst="rect">
              <a:avLst/>
            </a:prstGeom>
            <a:solidFill>
              <a:srgbClr val="E50914"/>
            </a:solidFill>
            <a:ln/>
          </p:spPr>
        </p:sp>
        <p:sp>
          <p:nvSpPr>
            <p:cNvPr id="45" name="Num09"/>
            <p:cNvSpPr/>
            <p:nvPr/>
          </p:nvSpPr>
          <p:spPr>
            <a:xfrm>
              <a:off x="4754880" y="2660904"/>
              <a:ext cx="438912" cy="347472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</a:rPr>
                <a:t>09</a:t>
              </a:r>
            </a:p>
          </p:txBody>
        </p:sp>
        <p:sp>
          <p:nvSpPr>
            <p:cNvPr id="46" name="Lbl09"/>
            <p:cNvSpPr/>
            <p:nvPr/>
          </p:nvSpPr>
          <p:spPr>
            <a:xfrm>
              <a:off x="5285232" y="2596896"/>
              <a:ext cx="3840480" cy="47548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400" dirty="0">
                  <a:latin typeface="Calibri" pitchFamily="34" charset="0"/>
                </a:rPr>
                <a:t>Movie &amp; TV Show Trends</a:t>
              </a:r>
            </a:p>
          </p:txBody>
        </p:sp>
        <p:sp>
          <p:nvSpPr>
            <p:cNvPr id="47" name="Box10"/>
            <p:cNvSpPr/>
            <p:nvPr/>
          </p:nvSpPr>
          <p:spPr>
            <a:xfrm>
              <a:off x="4754880" y="3410712"/>
              <a:ext cx="438912" cy="347472"/>
            </a:xfrm>
            <a:prstGeom prst="rect">
              <a:avLst/>
            </a:prstGeom>
            <a:solidFill>
              <a:srgbClr val="E50914"/>
            </a:solidFill>
            <a:ln/>
          </p:spPr>
        </p:sp>
        <p:sp>
          <p:nvSpPr>
            <p:cNvPr id="48" name="Num10"/>
            <p:cNvSpPr/>
            <p:nvPr/>
          </p:nvSpPr>
          <p:spPr>
            <a:xfrm>
              <a:off x="4754880" y="3410712"/>
              <a:ext cx="438912" cy="347472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</a:rPr>
                <a:t>10</a:t>
              </a:r>
            </a:p>
          </p:txBody>
        </p:sp>
        <p:sp>
          <p:nvSpPr>
            <p:cNvPr id="49" name="Lbl10"/>
            <p:cNvSpPr/>
            <p:nvPr/>
          </p:nvSpPr>
          <p:spPr>
            <a:xfrm>
              <a:off x="5285232" y="3346704"/>
              <a:ext cx="3840480" cy="47548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400" dirty="0">
                  <a:latin typeface="Calibri" pitchFamily="34" charset="0"/>
                </a:rPr>
                <a:t>Key Insights &amp; Findings</a:t>
              </a:r>
            </a:p>
          </p:txBody>
        </p:sp>
        <p:sp>
          <p:nvSpPr>
            <p:cNvPr id="50" name="Box11"/>
            <p:cNvSpPr/>
            <p:nvPr/>
          </p:nvSpPr>
          <p:spPr>
            <a:xfrm>
              <a:off x="4754880" y="4160520"/>
              <a:ext cx="438912" cy="347472"/>
            </a:xfrm>
            <a:prstGeom prst="rect">
              <a:avLst/>
            </a:prstGeom>
            <a:solidFill>
              <a:srgbClr val="E50914"/>
            </a:solidFill>
            <a:ln/>
          </p:spPr>
        </p:sp>
        <p:sp>
          <p:nvSpPr>
            <p:cNvPr id="51" name="Num11"/>
            <p:cNvSpPr/>
            <p:nvPr/>
          </p:nvSpPr>
          <p:spPr>
            <a:xfrm>
              <a:off x="4754880" y="4160520"/>
              <a:ext cx="438912" cy="347472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</a:rPr>
                <a:t>11</a:t>
              </a:r>
            </a:p>
          </p:txBody>
        </p:sp>
        <p:sp>
          <p:nvSpPr>
            <p:cNvPr id="52" name="Lbl11"/>
            <p:cNvSpPr/>
            <p:nvPr/>
          </p:nvSpPr>
          <p:spPr>
            <a:xfrm>
              <a:off x="5285232" y="4096512"/>
              <a:ext cx="3840480" cy="47548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400" dirty="0">
                  <a:latin typeface="Calibri" pitchFamily="34" charset="0"/>
                </a:rPr>
                <a:t>Challenges Faced</a:t>
              </a:r>
            </a:p>
          </p:txBody>
        </p:sp>
        <p:sp>
          <p:nvSpPr>
            <p:cNvPr id="53" name="Box12"/>
            <p:cNvSpPr/>
            <p:nvPr/>
          </p:nvSpPr>
          <p:spPr>
            <a:xfrm>
              <a:off x="4754880" y="4910328"/>
              <a:ext cx="438912" cy="347472"/>
            </a:xfrm>
            <a:prstGeom prst="rect">
              <a:avLst/>
            </a:prstGeom>
            <a:solidFill>
              <a:srgbClr val="E50914"/>
            </a:solidFill>
            <a:ln/>
          </p:spPr>
        </p:sp>
        <p:sp>
          <p:nvSpPr>
            <p:cNvPr id="54" name="Num12"/>
            <p:cNvSpPr/>
            <p:nvPr/>
          </p:nvSpPr>
          <p:spPr>
            <a:xfrm>
              <a:off x="4754880" y="4910328"/>
              <a:ext cx="438912" cy="347472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</a:rPr>
                <a:t>12</a:t>
              </a:r>
            </a:p>
          </p:txBody>
        </p:sp>
        <p:sp>
          <p:nvSpPr>
            <p:cNvPr id="55" name="Lbl12"/>
            <p:cNvSpPr/>
            <p:nvPr/>
          </p:nvSpPr>
          <p:spPr>
            <a:xfrm>
              <a:off x="5285232" y="4846320"/>
              <a:ext cx="3840480" cy="47548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400" dirty="0">
                  <a:latin typeface="Calibri" pitchFamily="34" charset="0"/>
                </a:rPr>
                <a:t>Conclusion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Step 1 — Project Overview</a:t>
            </a:r>
          </a:p>
        </p:txBody>
      </p:sp>
      <p:sp>
        <p:nvSpPr>
          <p:cNvPr id="20" name="Card0"/>
          <p:cNvSpPr/>
          <p:nvPr/>
        </p:nvSpPr>
        <p:spPr>
          <a:xfrm>
            <a:off x="365760" y="1097280"/>
            <a:ext cx="2560320" cy="35204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CardTop0"/>
          <p:cNvSpPr/>
          <p:nvPr/>
        </p:nvSpPr>
        <p:spPr>
          <a:xfrm>
            <a:off x="365760" y="1097280"/>
            <a:ext cx="256032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CardTitle0"/>
          <p:cNvSpPr/>
          <p:nvPr/>
        </p:nvSpPr>
        <p:spPr>
          <a:xfrm>
            <a:off x="457200" y="1261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</a:rPr>
              <a:t>Objective</a:t>
            </a:r>
          </a:p>
        </p:txBody>
      </p:sp>
      <p:sp>
        <p:nvSpPr>
          <p:cNvPr id="23" name="CardDesc0"/>
          <p:cNvSpPr/>
          <p:nvPr/>
        </p:nvSpPr>
        <p:spPr>
          <a:xfrm>
            <a:off x="45720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</a:rPr>
              <a:t>Analyze Netflix content library to uncover patterns in movies, TV shows, genres, ratings, and country-wise distribution of content.</a:t>
            </a:r>
          </a:p>
        </p:txBody>
      </p:sp>
      <p:sp>
        <p:nvSpPr>
          <p:cNvPr id="24" name="Card1"/>
          <p:cNvSpPr/>
          <p:nvPr/>
        </p:nvSpPr>
        <p:spPr>
          <a:xfrm>
            <a:off x="3200400" y="1097280"/>
            <a:ext cx="2560320" cy="35204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5" name="CardTop1"/>
          <p:cNvSpPr/>
          <p:nvPr/>
        </p:nvSpPr>
        <p:spPr>
          <a:xfrm>
            <a:off x="3200400" y="1097280"/>
            <a:ext cx="256032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6" name="CardTitle1"/>
          <p:cNvSpPr/>
          <p:nvPr/>
        </p:nvSpPr>
        <p:spPr>
          <a:xfrm>
            <a:off x="3291840" y="1261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</a:rPr>
              <a:t>Dataset</a:t>
            </a:r>
          </a:p>
        </p:txBody>
      </p:sp>
      <p:sp>
        <p:nvSpPr>
          <p:cNvPr id="27" name="CardDesc1"/>
          <p:cNvSpPr/>
          <p:nvPr/>
        </p:nvSpPr>
        <p:spPr>
          <a:xfrm>
            <a:off x="329184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</a:rPr>
              <a:t>Netflix dataset with 7 columns: Title, Type, Genre, Country, Release Year, Rating, and Duration Minutes.</a:t>
            </a:r>
          </a:p>
        </p:txBody>
      </p:sp>
      <p:sp>
        <p:nvSpPr>
          <p:cNvPr id="28" name="Card2"/>
          <p:cNvSpPr/>
          <p:nvPr/>
        </p:nvSpPr>
        <p:spPr>
          <a:xfrm>
            <a:off x="6035040" y="1097280"/>
            <a:ext cx="2560320" cy="35204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9" name="CardTop2"/>
          <p:cNvSpPr/>
          <p:nvPr/>
        </p:nvSpPr>
        <p:spPr>
          <a:xfrm>
            <a:off x="6035040" y="1097280"/>
            <a:ext cx="256032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0" name="CardTitle2"/>
          <p:cNvSpPr/>
          <p:nvPr/>
        </p:nvSpPr>
        <p:spPr>
          <a:xfrm>
            <a:off x="6126480" y="1261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</a:rPr>
              <a:t>Tools Used</a:t>
            </a:r>
          </a:p>
        </p:txBody>
      </p:sp>
      <p:sp>
        <p:nvSpPr>
          <p:cNvPr id="31" name="CardDesc2"/>
          <p:cNvSpPr/>
          <p:nvPr/>
        </p:nvSpPr>
        <p:spPr>
          <a:xfrm>
            <a:off x="61264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</a:rPr>
              <a:t>Python for scripting, Pandas for data cleaning &amp; analysis, and Matplotlib for creating visualizations and dashboards.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9CAB27-809A-09D2-5A33-A4D5AABDA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23" t="8614" r="3846" b="3846"/>
          <a:stretch>
            <a:fillRect/>
          </a:stretch>
        </p:blipFill>
        <p:spPr>
          <a:xfrm>
            <a:off x="674369" y="2852738"/>
            <a:ext cx="2026089" cy="16278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ED7EF3-3483-D520-B77A-35F860612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609" y="2852738"/>
            <a:ext cx="2224002" cy="16278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5EFD51-F7CC-EF31-E6BF-26DCE7EAA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79" y="2852738"/>
            <a:ext cx="2377439" cy="16278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Step 2 — Dataset &amp; Columns</a:t>
            </a:r>
          </a:p>
        </p:txBody>
      </p:sp>
      <p:sp>
        <p:nvSpPr>
          <p:cNvPr id="20" name="Intro"/>
          <p:cNvSpPr/>
          <p:nvPr/>
        </p:nvSpPr>
        <p:spPr>
          <a:xfrm>
            <a:off x="365760" y="1006920"/>
            <a:ext cx="841248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</a:rPr>
              <a:t>Your dataset contains 7 key columns used for all analysis:</a:t>
            </a:r>
          </a:p>
        </p:txBody>
      </p:sp>
      <p:sp>
        <p:nvSpPr>
          <p:cNvPr id="30" name="RowBg0"/>
          <p:cNvSpPr/>
          <p:nvPr/>
        </p:nvSpPr>
        <p:spPr>
          <a:xfrm>
            <a:off x="365760" y="1462320"/>
            <a:ext cx="841248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ColName0"/>
          <p:cNvSpPr/>
          <p:nvPr/>
        </p:nvSpPr>
        <p:spPr>
          <a:xfrm>
            <a:off x="457200" y="1462320"/>
            <a:ext cx="18288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alibri" pitchFamily="34" charset="0"/>
              </a:rPr>
              <a:t>title</a:t>
            </a:r>
          </a:p>
        </p:txBody>
      </p:sp>
      <p:sp>
        <p:nvSpPr>
          <p:cNvPr id="32" name="ColDesc0"/>
          <p:cNvSpPr/>
          <p:nvPr/>
        </p:nvSpPr>
        <p:spPr>
          <a:xfrm>
            <a:off x="2377200" y="1462320"/>
            <a:ext cx="64008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Name of the Movie or TV Show</a:t>
            </a:r>
          </a:p>
        </p:txBody>
      </p:sp>
      <p:sp>
        <p:nvSpPr>
          <p:cNvPr id="33" name="RowBg1"/>
          <p:cNvSpPr/>
          <p:nvPr/>
        </p:nvSpPr>
        <p:spPr>
          <a:xfrm>
            <a:off x="365760" y="1873800"/>
            <a:ext cx="8412480" cy="36576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4" name="ColName1"/>
          <p:cNvSpPr/>
          <p:nvPr/>
        </p:nvSpPr>
        <p:spPr>
          <a:xfrm>
            <a:off x="457200" y="1873800"/>
            <a:ext cx="18288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alibri" pitchFamily="34" charset="0"/>
              </a:rPr>
              <a:t>type</a:t>
            </a:r>
          </a:p>
        </p:txBody>
      </p:sp>
      <p:sp>
        <p:nvSpPr>
          <p:cNvPr id="35" name="ColDesc1"/>
          <p:cNvSpPr/>
          <p:nvPr/>
        </p:nvSpPr>
        <p:spPr>
          <a:xfrm>
            <a:off x="2377200" y="1873800"/>
            <a:ext cx="64008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Movie or TV Show</a:t>
            </a:r>
          </a:p>
        </p:txBody>
      </p:sp>
      <p:sp>
        <p:nvSpPr>
          <p:cNvPr id="36" name="RowBg2"/>
          <p:cNvSpPr/>
          <p:nvPr/>
        </p:nvSpPr>
        <p:spPr>
          <a:xfrm>
            <a:off x="365760" y="2285280"/>
            <a:ext cx="841248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7" name="ColName2"/>
          <p:cNvSpPr/>
          <p:nvPr/>
        </p:nvSpPr>
        <p:spPr>
          <a:xfrm>
            <a:off x="457200" y="2285280"/>
            <a:ext cx="18288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alibri" pitchFamily="34" charset="0"/>
              </a:rPr>
              <a:t>genre</a:t>
            </a:r>
          </a:p>
        </p:txBody>
      </p:sp>
      <p:sp>
        <p:nvSpPr>
          <p:cNvPr id="38" name="ColDesc2"/>
          <p:cNvSpPr/>
          <p:nvPr/>
        </p:nvSpPr>
        <p:spPr>
          <a:xfrm>
            <a:off x="2377200" y="2285280"/>
            <a:ext cx="64008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Genre category (Horror, Drama, Comedy...)</a:t>
            </a:r>
          </a:p>
        </p:txBody>
      </p:sp>
      <p:sp>
        <p:nvSpPr>
          <p:cNvPr id="39" name="RowBg3"/>
          <p:cNvSpPr/>
          <p:nvPr/>
        </p:nvSpPr>
        <p:spPr>
          <a:xfrm>
            <a:off x="365760" y="2696760"/>
            <a:ext cx="8412480" cy="36576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0" name="ColName3"/>
          <p:cNvSpPr/>
          <p:nvPr/>
        </p:nvSpPr>
        <p:spPr>
          <a:xfrm>
            <a:off x="457200" y="2696760"/>
            <a:ext cx="18288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alibri" pitchFamily="34" charset="0"/>
              </a:rPr>
              <a:t>country</a:t>
            </a:r>
          </a:p>
        </p:txBody>
      </p:sp>
      <p:sp>
        <p:nvSpPr>
          <p:cNvPr id="41" name="ColDesc3"/>
          <p:cNvSpPr/>
          <p:nvPr/>
        </p:nvSpPr>
        <p:spPr>
          <a:xfrm>
            <a:off x="2377200" y="2696760"/>
            <a:ext cx="64008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Country where content was produced</a:t>
            </a:r>
          </a:p>
        </p:txBody>
      </p:sp>
      <p:sp>
        <p:nvSpPr>
          <p:cNvPr id="42" name="RowBg4"/>
          <p:cNvSpPr/>
          <p:nvPr/>
        </p:nvSpPr>
        <p:spPr>
          <a:xfrm>
            <a:off x="365760" y="3108240"/>
            <a:ext cx="841248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3" name="ColName4"/>
          <p:cNvSpPr/>
          <p:nvPr/>
        </p:nvSpPr>
        <p:spPr>
          <a:xfrm>
            <a:off x="457200" y="3108240"/>
            <a:ext cx="18288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alibri" pitchFamily="34" charset="0"/>
              </a:rPr>
              <a:t>release_year</a:t>
            </a:r>
          </a:p>
        </p:txBody>
      </p:sp>
      <p:sp>
        <p:nvSpPr>
          <p:cNvPr id="44" name="ColDesc4"/>
          <p:cNvSpPr/>
          <p:nvPr/>
        </p:nvSpPr>
        <p:spPr>
          <a:xfrm>
            <a:off x="2377200" y="3108240"/>
            <a:ext cx="64008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Year the content was released</a:t>
            </a:r>
          </a:p>
        </p:txBody>
      </p:sp>
      <p:sp>
        <p:nvSpPr>
          <p:cNvPr id="45" name="RowBg5"/>
          <p:cNvSpPr/>
          <p:nvPr/>
        </p:nvSpPr>
        <p:spPr>
          <a:xfrm>
            <a:off x="365760" y="3519720"/>
            <a:ext cx="8412480" cy="36576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6" name="ColName5"/>
          <p:cNvSpPr/>
          <p:nvPr/>
        </p:nvSpPr>
        <p:spPr>
          <a:xfrm>
            <a:off x="457200" y="3519720"/>
            <a:ext cx="18288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alibri" pitchFamily="34" charset="0"/>
              </a:rPr>
              <a:t>rating</a:t>
            </a:r>
          </a:p>
        </p:txBody>
      </p:sp>
      <p:sp>
        <p:nvSpPr>
          <p:cNvPr id="47" name="ColDesc5"/>
          <p:cNvSpPr/>
          <p:nvPr/>
        </p:nvSpPr>
        <p:spPr>
          <a:xfrm>
            <a:off x="2377200" y="3519720"/>
            <a:ext cx="64008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Content rating (TV-MA, PG, R...)</a:t>
            </a:r>
          </a:p>
        </p:txBody>
      </p:sp>
      <p:sp>
        <p:nvSpPr>
          <p:cNvPr id="48" name="RowBg6"/>
          <p:cNvSpPr/>
          <p:nvPr/>
        </p:nvSpPr>
        <p:spPr>
          <a:xfrm>
            <a:off x="365760" y="3931200"/>
            <a:ext cx="841248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9" name="ColName6"/>
          <p:cNvSpPr/>
          <p:nvPr/>
        </p:nvSpPr>
        <p:spPr>
          <a:xfrm>
            <a:off x="457200" y="3931200"/>
            <a:ext cx="18288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alibri" pitchFamily="34" charset="0"/>
              </a:rPr>
              <a:t>duration_minutes</a:t>
            </a:r>
          </a:p>
        </p:txBody>
      </p:sp>
      <p:sp>
        <p:nvSpPr>
          <p:cNvPr id="50" name="ColDesc6"/>
          <p:cNvSpPr/>
          <p:nvPr/>
        </p:nvSpPr>
        <p:spPr>
          <a:xfrm>
            <a:off x="2377200" y="3931200"/>
            <a:ext cx="64008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Duration in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Step 3 — Key Statistics</a:t>
            </a:r>
          </a:p>
        </p:txBody>
      </p:sp>
      <p:sp>
        <p:nvSpPr>
          <p:cNvPr id="20" name="StatCard0"/>
          <p:cNvSpPr/>
          <p:nvPr/>
        </p:nvSpPr>
        <p:spPr>
          <a:xfrm>
            <a:off x="457200" y="1097280"/>
            <a:ext cx="205740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StatVal0"/>
          <p:cNvSpPr/>
          <p:nvPr/>
        </p:nvSpPr>
        <p:spPr>
          <a:xfrm>
            <a:off x="457200" y="1097280"/>
            <a:ext cx="2057400" cy="73152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50914"/>
                </a:solidFill>
                <a:latin typeface="Calibri" pitchFamily="34" charset="0"/>
              </a:rPr>
              <a:t>400+</a:t>
            </a:r>
          </a:p>
        </p:txBody>
      </p:sp>
      <p:sp>
        <p:nvSpPr>
          <p:cNvPr id="22" name="StatLbl0"/>
          <p:cNvSpPr/>
          <p:nvPr/>
        </p:nvSpPr>
        <p:spPr>
          <a:xfrm>
            <a:off x="457200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</a:rPr>
              <a:t>Total Titles</a:t>
            </a:r>
          </a:p>
        </p:txBody>
      </p:sp>
      <p:sp>
        <p:nvSpPr>
          <p:cNvPr id="23" name="StatCard1"/>
          <p:cNvSpPr/>
          <p:nvPr/>
        </p:nvSpPr>
        <p:spPr>
          <a:xfrm>
            <a:off x="2743200" y="1097280"/>
            <a:ext cx="205740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4" name="StatVal1"/>
          <p:cNvSpPr/>
          <p:nvPr/>
        </p:nvSpPr>
        <p:spPr>
          <a:xfrm>
            <a:off x="2743200" y="1097280"/>
            <a:ext cx="2057400" cy="73152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50914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5" name="StatLbl1"/>
          <p:cNvSpPr/>
          <p:nvPr/>
        </p:nvSpPr>
        <p:spPr>
          <a:xfrm>
            <a:off x="2743200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</a:rPr>
              <a:t>Content Types</a:t>
            </a:r>
          </a:p>
        </p:txBody>
      </p:sp>
      <p:sp>
        <p:nvSpPr>
          <p:cNvPr id="26" name="StatCard2"/>
          <p:cNvSpPr/>
          <p:nvPr/>
        </p:nvSpPr>
        <p:spPr>
          <a:xfrm>
            <a:off x="5029200" y="1097280"/>
            <a:ext cx="205740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7" name="StatVal2"/>
          <p:cNvSpPr/>
          <p:nvPr/>
        </p:nvSpPr>
        <p:spPr>
          <a:xfrm>
            <a:off x="5029200" y="1097280"/>
            <a:ext cx="2057400" cy="73152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50914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28" name="StatLbl2"/>
          <p:cNvSpPr/>
          <p:nvPr/>
        </p:nvSpPr>
        <p:spPr>
          <a:xfrm>
            <a:off x="5029200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</a:rPr>
              <a:t>Genres</a:t>
            </a:r>
          </a:p>
        </p:txBody>
      </p:sp>
      <p:sp>
        <p:nvSpPr>
          <p:cNvPr id="29" name="StatCard3"/>
          <p:cNvSpPr/>
          <p:nvPr/>
        </p:nvSpPr>
        <p:spPr>
          <a:xfrm>
            <a:off x="7315200" y="1097280"/>
            <a:ext cx="1729648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0" name="StatVal3"/>
          <p:cNvSpPr/>
          <p:nvPr/>
        </p:nvSpPr>
        <p:spPr>
          <a:xfrm>
            <a:off x="7315200" y="1097280"/>
            <a:ext cx="2057400" cy="73152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50914"/>
                </a:solidFill>
                <a:latin typeface="Calibri" pitchFamily="34" charset="0"/>
              </a:rPr>
              <a:t>5+</a:t>
            </a:r>
          </a:p>
        </p:txBody>
      </p:sp>
      <p:sp>
        <p:nvSpPr>
          <p:cNvPr id="31" name="StatLbl3"/>
          <p:cNvSpPr/>
          <p:nvPr/>
        </p:nvSpPr>
        <p:spPr>
          <a:xfrm>
            <a:off x="7315200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91440" tIns="9144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</a:rPr>
              <a:t>Ratings</a:t>
            </a:r>
          </a:p>
        </p:txBody>
      </p:sp>
      <p:sp>
        <p:nvSpPr>
          <p:cNvPr id="40" name="InsightsBg"/>
          <p:cNvSpPr/>
          <p:nvPr/>
        </p:nvSpPr>
        <p:spPr>
          <a:xfrm>
            <a:off x="365760" y="2377439"/>
            <a:ext cx="8412480" cy="255811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1" name="InsightsTitle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</a:rPr>
              <a:t>Dataset Quick Summary</a:t>
            </a:r>
          </a:p>
        </p:txBody>
      </p:sp>
      <p:sp>
        <p:nvSpPr>
          <p:cNvPr id="50" name="Dot0"/>
          <p:cNvSpPr/>
          <p:nvPr/>
        </p:nvSpPr>
        <p:spPr>
          <a:xfrm>
            <a:off x="457200" y="3035808"/>
            <a:ext cx="91440" cy="91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0" name="Ins0"/>
          <p:cNvSpPr/>
          <p:nvPr/>
        </p:nvSpPr>
        <p:spPr>
          <a:xfrm>
            <a:off x="639360" y="2926080"/>
            <a:ext cx="8138880" cy="36576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Movies make up 47% of all content</a:t>
            </a:r>
          </a:p>
        </p:txBody>
      </p:sp>
      <p:sp>
        <p:nvSpPr>
          <p:cNvPr id="51" name="Dot1"/>
          <p:cNvSpPr/>
          <p:nvPr/>
        </p:nvSpPr>
        <p:spPr>
          <a:xfrm>
            <a:off x="457200" y="3401568"/>
            <a:ext cx="91440" cy="91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1" name="Ins1"/>
          <p:cNvSpPr/>
          <p:nvPr/>
        </p:nvSpPr>
        <p:spPr>
          <a:xfrm>
            <a:off x="639360" y="3291840"/>
            <a:ext cx="8138880" cy="36576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Horror is the most popular genre</a:t>
            </a:r>
          </a:p>
        </p:txBody>
      </p:sp>
      <p:sp>
        <p:nvSpPr>
          <p:cNvPr id="52" name="Dot2"/>
          <p:cNvSpPr/>
          <p:nvPr/>
        </p:nvSpPr>
        <p:spPr>
          <a:xfrm>
            <a:off x="457200" y="3767328"/>
            <a:ext cx="91440" cy="91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2" name="Ins2"/>
          <p:cNvSpPr/>
          <p:nvPr/>
        </p:nvSpPr>
        <p:spPr>
          <a:xfrm>
            <a:off x="639360" y="3657600"/>
            <a:ext cx="8138880" cy="36576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TV Shows make up 53% of all content</a:t>
            </a:r>
          </a:p>
        </p:txBody>
      </p:sp>
      <p:sp>
        <p:nvSpPr>
          <p:cNvPr id="53" name="Dot3"/>
          <p:cNvSpPr/>
          <p:nvPr/>
        </p:nvSpPr>
        <p:spPr>
          <a:xfrm>
            <a:off x="457200" y="4133088"/>
            <a:ext cx="91440" cy="91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3" name="Ins3"/>
          <p:cNvSpPr/>
          <p:nvPr/>
        </p:nvSpPr>
        <p:spPr>
          <a:xfrm>
            <a:off x="639360" y="4023360"/>
            <a:ext cx="8138880" cy="36576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TV-MA is the most common rating</a:t>
            </a:r>
          </a:p>
        </p:txBody>
      </p:sp>
      <p:sp>
        <p:nvSpPr>
          <p:cNvPr id="54" name="Dot4"/>
          <p:cNvSpPr/>
          <p:nvPr/>
        </p:nvSpPr>
        <p:spPr>
          <a:xfrm>
            <a:off x="457200" y="4498848"/>
            <a:ext cx="91440" cy="91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4" name="Ins4"/>
          <p:cNvSpPr/>
          <p:nvPr/>
        </p:nvSpPr>
        <p:spPr>
          <a:xfrm>
            <a:off x="639360" y="4389120"/>
            <a:ext cx="8138880" cy="36576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India is the top content-producing country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Step 4 — Movies vs TV Shows</a:t>
            </a:r>
          </a:p>
        </p:txBody>
      </p:sp>
      <p:sp>
        <p:nvSpPr>
          <p:cNvPr id="20" name="CodeBg"/>
          <p:cNvSpPr/>
          <p:nvPr/>
        </p:nvSpPr>
        <p:spPr>
          <a:xfrm>
            <a:off x="365760" y="1006920"/>
            <a:ext cx="4297680" cy="2560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CodeTop"/>
          <p:cNvSpPr/>
          <p:nvPr/>
        </p:nvSpPr>
        <p:spPr>
          <a:xfrm>
            <a:off x="365760" y="1006920"/>
            <a:ext cx="429768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CodeTitle"/>
          <p:cNvSpPr/>
          <p:nvPr/>
        </p:nvSpPr>
        <p:spPr>
          <a:xfrm>
            <a:off x="457200" y="1061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Movies vs TV Shows Code</a:t>
            </a:r>
          </a:p>
        </p:txBody>
      </p:sp>
      <p:sp>
        <p:nvSpPr>
          <p:cNvPr id="30" name="Code0"/>
          <p:cNvSpPr/>
          <p:nvPr/>
        </p:nvSpPr>
        <p:spPr>
          <a:xfrm>
            <a:off x="457200" y="1427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# Count Movies vs TV Shows</a:t>
            </a:r>
          </a:p>
        </p:txBody>
      </p:sp>
      <p:sp>
        <p:nvSpPr>
          <p:cNvPr id="31" name="Code1"/>
          <p:cNvSpPr/>
          <p:nvPr/>
        </p:nvSpPr>
        <p:spPr>
          <a:xfrm>
            <a:off x="457200" y="17202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type_counts = df["type"].value_counts()</a:t>
            </a:r>
          </a:p>
        </p:txBody>
      </p:sp>
      <p:sp>
        <p:nvSpPr>
          <p:cNvPr id="32" name="Code2"/>
          <p:cNvSpPr/>
          <p:nvPr/>
        </p:nvSpPr>
        <p:spPr>
          <a:xfrm>
            <a:off x="457200" y="20129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type_counts.plot(kind="bar")</a:t>
            </a:r>
          </a:p>
        </p:txBody>
      </p:sp>
      <p:sp>
        <p:nvSpPr>
          <p:cNvPr id="33" name="Code3"/>
          <p:cNvSpPr/>
          <p:nvPr/>
        </p:nvSpPr>
        <p:spPr>
          <a:xfrm>
            <a:off x="457200" y="2305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plt.title("Movies vs TV Shows Count")</a:t>
            </a:r>
          </a:p>
        </p:txBody>
      </p:sp>
      <p:sp>
        <p:nvSpPr>
          <p:cNvPr id="34" name="Code4"/>
          <p:cNvSpPr/>
          <p:nvPr/>
        </p:nvSpPr>
        <p:spPr>
          <a:xfrm>
            <a:off x="457200" y="2598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plt.xlabel("Type")</a:t>
            </a:r>
          </a:p>
        </p:txBody>
      </p:sp>
      <p:sp>
        <p:nvSpPr>
          <p:cNvPr id="35" name="Code5"/>
          <p:cNvSpPr/>
          <p:nvPr/>
        </p:nvSpPr>
        <p:spPr>
          <a:xfrm>
            <a:off x="457200" y="28907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plt.ylabel("Count")</a:t>
            </a:r>
          </a:p>
        </p:txBody>
      </p:sp>
      <p:sp>
        <p:nvSpPr>
          <p:cNvPr id="36" name="Code6"/>
          <p:cNvSpPr/>
          <p:nvPr/>
        </p:nvSpPr>
        <p:spPr>
          <a:xfrm>
            <a:off x="457200" y="31833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plt.show()</a:t>
            </a:r>
          </a:p>
        </p:txBody>
      </p:sp>
      <p:sp>
        <p:nvSpPr>
          <p:cNvPr id="51" name="TableTop"/>
          <p:cNvSpPr/>
          <p:nvPr/>
        </p:nvSpPr>
        <p:spPr>
          <a:xfrm>
            <a:off x="4644019" y="1014428"/>
            <a:ext cx="4429338" cy="45719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0" name="Note"/>
          <p:cNvSpPr/>
          <p:nvPr/>
        </p:nvSpPr>
        <p:spPr>
          <a:xfrm>
            <a:off x="365760" y="37497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</a:rPr>
              <a:t>TV Shows (53%) slightly outnumber Movies (47%) in this dataset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63AC246-1335-7D7B-19C5-A13C6916D5AF}"/>
              </a:ext>
            </a:extLst>
          </p:cNvPr>
          <p:cNvGrpSpPr/>
          <p:nvPr/>
        </p:nvGrpSpPr>
        <p:grpSpPr>
          <a:xfrm>
            <a:off x="3372295" y="1071745"/>
            <a:ext cx="2488677" cy="2495495"/>
            <a:chOff x="4932960" y="2760840"/>
            <a:chExt cx="3936720" cy="256032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4D8E316-99EF-7F5D-26AC-98C4312B3FA0}"/>
                </a:ext>
              </a:extLst>
            </p:cNvPr>
            <p:cNvGrpSpPr/>
            <p:nvPr/>
          </p:nvGrpSpPr>
          <p:grpSpPr>
            <a:xfrm>
              <a:off x="4932960" y="2760840"/>
              <a:ext cx="3936720" cy="2560320"/>
              <a:chOff x="4846440" y="1006920"/>
              <a:chExt cx="3936720" cy="2560320"/>
            </a:xfrm>
          </p:grpSpPr>
          <p:sp>
            <p:nvSpPr>
              <p:cNvPr id="50" name="TableBg"/>
              <p:cNvSpPr/>
              <p:nvPr/>
            </p:nvSpPr>
            <p:spPr>
              <a:xfrm>
                <a:off x="4846440" y="1006920"/>
                <a:ext cx="3936720" cy="2560320"/>
              </a:xfrm>
              <a:prstGeom prst="rect">
                <a:avLst/>
              </a:prstGeom>
              <a:solidFill>
                <a:srgbClr val="1E1E1E"/>
              </a:solidFill>
              <a:ln/>
            </p:spPr>
          </p:sp>
          <p:sp>
            <p:nvSpPr>
              <p:cNvPr id="52" name="TableTitle"/>
              <p:cNvSpPr/>
              <p:nvPr/>
            </p:nvSpPr>
            <p:spPr>
              <a:xfrm>
                <a:off x="4937880" y="1061784"/>
                <a:ext cx="375408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Calibri" pitchFamily="34" charset="0"/>
                  </a:rPr>
                  <a:t>Results</a:t>
                </a:r>
              </a:p>
            </p:txBody>
          </p:sp>
          <p:sp>
            <p:nvSpPr>
              <p:cNvPr id="60" name="TR0"/>
              <p:cNvSpPr/>
              <p:nvPr/>
            </p:nvSpPr>
            <p:spPr>
              <a:xfrm>
                <a:off x="4846440" y="1518120"/>
                <a:ext cx="3936720" cy="365760"/>
              </a:xfrm>
              <a:prstGeom prst="rect">
                <a:avLst/>
              </a:prstGeom>
              <a:solidFill>
                <a:srgbClr val="252525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TC2-0"/>
              <p:cNvSpPr/>
              <p:nvPr/>
            </p:nvSpPr>
            <p:spPr>
              <a:xfrm>
                <a:off x="6858120" y="1518120"/>
                <a:ext cx="1828800" cy="365760"/>
              </a:xfrm>
              <a:prstGeom prst="rect">
                <a:avLst/>
              </a:prstGeom>
              <a:noFill/>
              <a:ln/>
            </p:spPr>
            <p:txBody>
              <a:bodyPr wrap="square" lIns="91440" tIns="9144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AAAAAA"/>
                    </a:solidFill>
                    <a:latin typeface="Calibri" pitchFamily="34" charset="0"/>
                  </a:rPr>
                  <a:t>total_count</a:t>
                </a:r>
              </a:p>
            </p:txBody>
          </p:sp>
          <p:sp>
            <p:nvSpPr>
              <p:cNvPr id="64" name="TC1-1"/>
              <p:cNvSpPr/>
              <p:nvPr/>
            </p:nvSpPr>
            <p:spPr>
              <a:xfrm>
                <a:off x="4937880" y="1883880"/>
                <a:ext cx="1828800" cy="365760"/>
              </a:xfrm>
              <a:prstGeom prst="rect">
                <a:avLst/>
              </a:prstGeom>
              <a:noFill/>
              <a:ln/>
            </p:spPr>
            <p:txBody>
              <a:bodyPr wrap="square" lIns="91440" tIns="9144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</a:rPr>
                  <a:t>TV Show</a:t>
                </a:r>
              </a:p>
            </p:txBody>
          </p:sp>
          <p:sp>
            <p:nvSpPr>
              <p:cNvPr id="65" name="TC2-1"/>
              <p:cNvSpPr/>
              <p:nvPr/>
            </p:nvSpPr>
            <p:spPr>
              <a:xfrm>
                <a:off x="6858120" y="1883880"/>
                <a:ext cx="1828800" cy="365760"/>
              </a:xfrm>
              <a:prstGeom prst="rect">
                <a:avLst/>
              </a:prstGeom>
              <a:noFill/>
              <a:ln/>
            </p:spPr>
            <p:txBody>
              <a:bodyPr wrap="square" lIns="91440" tIns="9144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50914"/>
                    </a:solidFill>
                    <a:latin typeface="Calibri" pitchFamily="34" charset="0"/>
                  </a:rPr>
                  <a:t>210</a:t>
                </a:r>
              </a:p>
            </p:txBody>
          </p:sp>
          <p:sp>
            <p:nvSpPr>
              <p:cNvPr id="66" name="TR2"/>
              <p:cNvSpPr/>
              <p:nvPr/>
            </p:nvSpPr>
            <p:spPr>
              <a:xfrm>
                <a:off x="4846440" y="2432520"/>
                <a:ext cx="3936720" cy="365760"/>
              </a:xfrm>
              <a:prstGeom prst="rect">
                <a:avLst/>
              </a:prstGeom>
              <a:solidFill>
                <a:srgbClr val="1E1E1E"/>
              </a:solidFill>
              <a:ln/>
            </p:spPr>
          </p:sp>
          <p:sp>
            <p:nvSpPr>
              <p:cNvPr id="67" name="TC1-2"/>
              <p:cNvSpPr/>
              <p:nvPr/>
            </p:nvSpPr>
            <p:spPr>
              <a:xfrm>
                <a:off x="5029320" y="2416464"/>
                <a:ext cx="1828800" cy="365760"/>
              </a:xfrm>
              <a:prstGeom prst="rect">
                <a:avLst/>
              </a:prstGeom>
              <a:noFill/>
              <a:ln/>
            </p:spPr>
            <p:txBody>
              <a:bodyPr wrap="square" lIns="91440" tIns="9144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</a:rPr>
                  <a:t>Movie</a:t>
                </a:r>
              </a:p>
            </p:txBody>
          </p:sp>
        </p:grpSp>
        <p:sp>
          <p:nvSpPr>
            <p:cNvPr id="68" name="TC2-2"/>
            <p:cNvSpPr/>
            <p:nvPr/>
          </p:nvSpPr>
          <p:spPr>
            <a:xfrm>
              <a:off x="6983712" y="4131576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EC9B0"/>
                  </a:solidFill>
                  <a:latin typeface="Calibri" pitchFamily="34" charset="0"/>
                </a:rPr>
                <a:t>190</a:t>
              </a:r>
            </a:p>
          </p:txBody>
        </p:sp>
        <p:sp>
          <p:nvSpPr>
            <p:cNvPr id="61" name="TC1-0"/>
            <p:cNvSpPr/>
            <p:nvPr/>
          </p:nvSpPr>
          <p:spPr>
            <a:xfrm>
              <a:off x="5075040" y="3237002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AAAAAA"/>
                  </a:solidFill>
                  <a:latin typeface="Calibri" pitchFamily="34" charset="0"/>
                </a:rPr>
                <a:t>type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0021D295-B0C8-9DD6-0007-5FE40F263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044" y="1125220"/>
            <a:ext cx="2928356" cy="24164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Step 5 — Top Countries Producing Content</a:t>
            </a:r>
          </a:p>
        </p:txBody>
      </p:sp>
      <p:sp>
        <p:nvSpPr>
          <p:cNvPr id="20" name="CB"/>
          <p:cNvSpPr/>
          <p:nvPr/>
        </p:nvSpPr>
        <p:spPr>
          <a:xfrm>
            <a:off x="365760" y="1006920"/>
            <a:ext cx="4297680" cy="2560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CT"/>
          <p:cNvSpPr/>
          <p:nvPr/>
        </p:nvSpPr>
        <p:spPr>
          <a:xfrm>
            <a:off x="365760" y="1006920"/>
            <a:ext cx="429768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CTit"/>
          <p:cNvSpPr/>
          <p:nvPr/>
        </p:nvSpPr>
        <p:spPr>
          <a:xfrm>
            <a:off x="457200" y="1061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Code</a:t>
            </a:r>
          </a:p>
        </p:txBody>
      </p:sp>
      <p:sp>
        <p:nvSpPr>
          <p:cNvPr id="30" name="C0"/>
          <p:cNvSpPr/>
          <p:nvPr/>
        </p:nvSpPr>
        <p:spPr>
          <a:xfrm>
            <a:off x="457200" y="1427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# Top countries by content</a:t>
            </a:r>
          </a:p>
        </p:txBody>
      </p:sp>
      <p:sp>
        <p:nvSpPr>
          <p:cNvPr id="31" name="C1"/>
          <p:cNvSpPr/>
          <p:nvPr/>
        </p:nvSpPr>
        <p:spPr>
          <a:xfrm>
            <a:off x="457200" y="17202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df["country"].value_counts()</a:t>
            </a:r>
          </a:p>
        </p:txBody>
      </p:sp>
      <p:sp>
        <p:nvSpPr>
          <p:cNvPr id="32" name="C2"/>
          <p:cNvSpPr/>
          <p:nvPr/>
        </p:nvSpPr>
        <p:spPr>
          <a:xfrm>
            <a:off x="457200" y="20129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  .head(10).plot(kind="bar")</a:t>
            </a:r>
          </a:p>
        </p:txBody>
      </p:sp>
      <p:sp>
        <p:nvSpPr>
          <p:cNvPr id="33" name="C3"/>
          <p:cNvSpPr/>
          <p:nvPr/>
        </p:nvSpPr>
        <p:spPr>
          <a:xfrm>
            <a:off x="457200" y="2305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plt.title("Top Countries")</a:t>
            </a:r>
          </a:p>
        </p:txBody>
      </p:sp>
      <p:sp>
        <p:nvSpPr>
          <p:cNvPr id="34" name="C4"/>
          <p:cNvSpPr/>
          <p:nvPr/>
        </p:nvSpPr>
        <p:spPr>
          <a:xfrm>
            <a:off x="457200" y="2598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plt.show()</a:t>
            </a:r>
          </a:p>
        </p:txBody>
      </p:sp>
      <p:sp>
        <p:nvSpPr>
          <p:cNvPr id="51" name="TT"/>
          <p:cNvSpPr/>
          <p:nvPr/>
        </p:nvSpPr>
        <p:spPr>
          <a:xfrm>
            <a:off x="4846440" y="1006920"/>
            <a:ext cx="3936720" cy="54864"/>
          </a:xfrm>
          <a:prstGeom prst="rect">
            <a:avLst/>
          </a:prstGeom>
          <a:solidFill>
            <a:srgbClr val="E50914"/>
          </a:solidFill>
          <a:ln/>
        </p:spPr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07EC14-AC56-4ED0-15CD-7471CC70B0D7}"/>
              </a:ext>
            </a:extLst>
          </p:cNvPr>
          <p:cNvGrpSpPr/>
          <p:nvPr/>
        </p:nvGrpSpPr>
        <p:grpSpPr>
          <a:xfrm>
            <a:off x="2514600" y="1061784"/>
            <a:ext cx="2148840" cy="2505456"/>
            <a:chOff x="4846440" y="1006920"/>
            <a:chExt cx="3936720" cy="2560320"/>
          </a:xfrm>
        </p:grpSpPr>
        <p:sp>
          <p:nvSpPr>
            <p:cNvPr id="50" name="TB"/>
            <p:cNvSpPr/>
            <p:nvPr/>
          </p:nvSpPr>
          <p:spPr>
            <a:xfrm>
              <a:off x="4846440" y="1006920"/>
              <a:ext cx="3936720" cy="2560320"/>
            </a:xfrm>
            <a:prstGeom prst="rect">
              <a:avLst/>
            </a:prstGeom>
            <a:solidFill>
              <a:srgbClr val="1E1E1E"/>
            </a:solidFill>
            <a:ln/>
          </p:spPr>
        </p:sp>
        <p:sp>
          <p:nvSpPr>
            <p:cNvPr id="52" name="TTit"/>
            <p:cNvSpPr/>
            <p:nvPr/>
          </p:nvSpPr>
          <p:spPr>
            <a:xfrm>
              <a:off x="4937880" y="1061784"/>
              <a:ext cx="3754080" cy="365760"/>
            </a:xfrm>
            <a:prstGeom prst="rect">
              <a:avLst/>
            </a:prstGeom>
            <a:noFill/>
            <a:ln/>
          </p:spPr>
          <p:txBody>
            <a:bodyPr wrap="square" lIns="0" t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</a:rPr>
                <a:t>Top Countries</a:t>
              </a:r>
            </a:p>
          </p:txBody>
        </p:sp>
        <p:sp>
          <p:nvSpPr>
            <p:cNvPr id="61" name="R10"/>
            <p:cNvSpPr/>
            <p:nvPr/>
          </p:nvSpPr>
          <p:spPr>
            <a:xfrm>
              <a:off x="4937880" y="1518120"/>
              <a:ext cx="2286000" cy="29260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CCCCC"/>
                  </a:solidFill>
                  <a:latin typeface="Calibri" pitchFamily="34" charset="0"/>
                </a:rPr>
                <a:t>India</a:t>
              </a:r>
            </a:p>
          </p:txBody>
        </p:sp>
        <p:sp>
          <p:nvSpPr>
            <p:cNvPr id="62" name="R20"/>
            <p:cNvSpPr/>
            <p:nvPr/>
          </p:nvSpPr>
          <p:spPr>
            <a:xfrm>
              <a:off x="7223400" y="1518120"/>
              <a:ext cx="456840" cy="292608"/>
            </a:xfrm>
            <a:prstGeom prst="rect">
              <a:avLst/>
            </a:prstGeom>
            <a:noFill/>
            <a:ln/>
          </p:spPr>
          <p:txBody>
            <a:bodyPr wrap="square" lIns="0" t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E50914"/>
                  </a:solidFill>
                  <a:latin typeface="Calibri" pitchFamily="34" charset="0"/>
                </a:rPr>
                <a:t>73</a:t>
              </a:r>
            </a:p>
          </p:txBody>
        </p:sp>
        <p:sp>
          <p:nvSpPr>
            <p:cNvPr id="64" name="R11"/>
            <p:cNvSpPr/>
            <p:nvPr/>
          </p:nvSpPr>
          <p:spPr>
            <a:xfrm>
              <a:off x="4937880" y="1810728"/>
              <a:ext cx="2286000" cy="29260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CCCCC"/>
                  </a:solidFill>
                  <a:latin typeface="Calibri" pitchFamily="34" charset="0"/>
                </a:rPr>
                <a:t>Japan</a:t>
              </a:r>
            </a:p>
          </p:txBody>
        </p:sp>
        <p:sp>
          <p:nvSpPr>
            <p:cNvPr id="65" name="R21"/>
            <p:cNvSpPr/>
            <p:nvPr/>
          </p:nvSpPr>
          <p:spPr>
            <a:xfrm>
              <a:off x="7223400" y="1810728"/>
              <a:ext cx="456840" cy="292608"/>
            </a:xfrm>
            <a:prstGeom prst="rect">
              <a:avLst/>
            </a:prstGeom>
            <a:noFill/>
            <a:ln/>
          </p:spPr>
          <p:txBody>
            <a:bodyPr wrap="square" lIns="0" t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E50914"/>
                  </a:solidFill>
                  <a:latin typeface="Calibri" pitchFamily="34" charset="0"/>
                </a:rPr>
                <a:t>72</a:t>
              </a:r>
            </a:p>
          </p:txBody>
        </p:sp>
        <p:sp>
          <p:nvSpPr>
            <p:cNvPr id="67" name="R12"/>
            <p:cNvSpPr/>
            <p:nvPr/>
          </p:nvSpPr>
          <p:spPr>
            <a:xfrm>
              <a:off x="4937880" y="2103336"/>
              <a:ext cx="2286000" cy="29260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CCCCC"/>
                  </a:solidFill>
                  <a:latin typeface="Calibri" pitchFamily="34" charset="0"/>
                </a:rPr>
                <a:t>Canada</a:t>
              </a:r>
            </a:p>
          </p:txBody>
        </p:sp>
        <p:sp>
          <p:nvSpPr>
            <p:cNvPr id="68" name="R22"/>
            <p:cNvSpPr/>
            <p:nvPr/>
          </p:nvSpPr>
          <p:spPr>
            <a:xfrm>
              <a:off x="7223400" y="2103336"/>
              <a:ext cx="456840" cy="292608"/>
            </a:xfrm>
            <a:prstGeom prst="rect">
              <a:avLst/>
            </a:prstGeom>
            <a:noFill/>
            <a:ln/>
          </p:spPr>
          <p:txBody>
            <a:bodyPr wrap="square" lIns="0" t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E50914"/>
                  </a:solidFill>
                  <a:latin typeface="Calibri" pitchFamily="34" charset="0"/>
                </a:rPr>
                <a:t>71</a:t>
              </a:r>
            </a:p>
          </p:txBody>
        </p:sp>
        <p:sp>
          <p:nvSpPr>
            <p:cNvPr id="70" name="R13"/>
            <p:cNvSpPr/>
            <p:nvPr/>
          </p:nvSpPr>
          <p:spPr>
            <a:xfrm>
              <a:off x="4937880" y="2395944"/>
              <a:ext cx="2286000" cy="29260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CCCCC"/>
                  </a:solidFill>
                  <a:latin typeface="Calibri" pitchFamily="34" charset="0"/>
                </a:rPr>
                <a:t>United States</a:t>
              </a:r>
            </a:p>
          </p:txBody>
        </p:sp>
        <p:sp>
          <p:nvSpPr>
            <p:cNvPr id="71" name="R23"/>
            <p:cNvSpPr/>
            <p:nvPr/>
          </p:nvSpPr>
          <p:spPr>
            <a:xfrm>
              <a:off x="7223400" y="2395944"/>
              <a:ext cx="456840" cy="292608"/>
            </a:xfrm>
            <a:prstGeom prst="rect">
              <a:avLst/>
            </a:prstGeom>
            <a:noFill/>
            <a:ln/>
          </p:spPr>
          <p:txBody>
            <a:bodyPr wrap="square" lIns="0" t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E50914"/>
                  </a:solidFill>
                  <a:latin typeface="Calibri" pitchFamily="34" charset="0"/>
                </a:rPr>
                <a:t>66</a:t>
              </a:r>
            </a:p>
          </p:txBody>
        </p:sp>
        <p:sp>
          <p:nvSpPr>
            <p:cNvPr id="73" name="R14"/>
            <p:cNvSpPr/>
            <p:nvPr/>
          </p:nvSpPr>
          <p:spPr>
            <a:xfrm>
              <a:off x="4937880" y="2688552"/>
              <a:ext cx="2286000" cy="29260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CCCCC"/>
                  </a:solidFill>
                  <a:latin typeface="Calibri" pitchFamily="34" charset="0"/>
                </a:rPr>
                <a:t>United Kingdom</a:t>
              </a:r>
            </a:p>
          </p:txBody>
        </p:sp>
        <p:sp>
          <p:nvSpPr>
            <p:cNvPr id="74" name="R24"/>
            <p:cNvSpPr/>
            <p:nvPr/>
          </p:nvSpPr>
          <p:spPr>
            <a:xfrm>
              <a:off x="7223400" y="2688552"/>
              <a:ext cx="456840" cy="292608"/>
            </a:xfrm>
            <a:prstGeom prst="rect">
              <a:avLst/>
            </a:prstGeom>
            <a:noFill/>
            <a:ln/>
          </p:spPr>
          <p:txBody>
            <a:bodyPr wrap="square" lIns="0" t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E50914"/>
                  </a:solidFill>
                  <a:latin typeface="Calibri" pitchFamily="34" charset="0"/>
                </a:rPr>
                <a:t>62</a:t>
              </a:r>
            </a:p>
          </p:txBody>
        </p:sp>
        <p:sp>
          <p:nvSpPr>
            <p:cNvPr id="76" name="R15"/>
            <p:cNvSpPr/>
            <p:nvPr/>
          </p:nvSpPr>
          <p:spPr>
            <a:xfrm>
              <a:off x="4937880" y="2981160"/>
              <a:ext cx="2286000" cy="292608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CCCCC"/>
                  </a:solidFill>
                  <a:latin typeface="Calibri" pitchFamily="34" charset="0"/>
                </a:rPr>
                <a:t>South Korea</a:t>
              </a:r>
            </a:p>
          </p:txBody>
        </p:sp>
        <p:sp>
          <p:nvSpPr>
            <p:cNvPr id="77" name="R25"/>
            <p:cNvSpPr/>
            <p:nvPr/>
          </p:nvSpPr>
          <p:spPr>
            <a:xfrm>
              <a:off x="7223400" y="2981160"/>
              <a:ext cx="456840" cy="292608"/>
            </a:xfrm>
            <a:prstGeom prst="rect">
              <a:avLst/>
            </a:prstGeom>
            <a:noFill/>
            <a:ln/>
          </p:spPr>
          <p:txBody>
            <a:bodyPr wrap="square" lIns="0" t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E50914"/>
                  </a:solidFill>
                  <a:latin typeface="Calibri" pitchFamily="34" charset="0"/>
                </a:rPr>
                <a:t>55</a:t>
              </a:r>
            </a:p>
          </p:txBody>
        </p:sp>
      </p:grpSp>
      <p:sp>
        <p:nvSpPr>
          <p:cNvPr id="80" name="BarBg"/>
          <p:cNvSpPr/>
          <p:nvPr/>
        </p:nvSpPr>
        <p:spPr>
          <a:xfrm>
            <a:off x="365760" y="3749760"/>
            <a:ext cx="8412480" cy="1188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1" name="Insight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r>
              <a:rPr lang="en-US" sz="1200" dirty="0"/>
              <a:t>India is the leading content-producing country in the dataset”</a:t>
            </a:r>
            <a:endParaRPr lang="en-US" sz="1200" dirty="0">
              <a:latin typeface="Calibri" pitchFamily="34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FA6E3F7-EA5C-CBCC-1E1F-229A639F9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854" y="1096921"/>
            <a:ext cx="3626946" cy="247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Step 6 — Rating Distribution</a:t>
            </a:r>
          </a:p>
        </p:txBody>
      </p:sp>
      <p:sp>
        <p:nvSpPr>
          <p:cNvPr id="20" name="CB"/>
          <p:cNvSpPr/>
          <p:nvPr/>
        </p:nvSpPr>
        <p:spPr>
          <a:xfrm>
            <a:off x="365760" y="1006920"/>
            <a:ext cx="4297680" cy="287254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CT"/>
          <p:cNvSpPr/>
          <p:nvPr/>
        </p:nvSpPr>
        <p:spPr>
          <a:xfrm>
            <a:off x="365760" y="1006920"/>
            <a:ext cx="429768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CTit"/>
          <p:cNvSpPr/>
          <p:nvPr/>
        </p:nvSpPr>
        <p:spPr>
          <a:xfrm>
            <a:off x="457200" y="1061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Code</a:t>
            </a:r>
          </a:p>
        </p:txBody>
      </p:sp>
      <p:sp>
        <p:nvSpPr>
          <p:cNvPr id="30" name="C0"/>
          <p:cNvSpPr/>
          <p:nvPr/>
        </p:nvSpPr>
        <p:spPr>
          <a:xfrm>
            <a:off x="457200" y="1427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# Rating distribution</a:t>
            </a:r>
          </a:p>
        </p:txBody>
      </p:sp>
      <p:sp>
        <p:nvSpPr>
          <p:cNvPr id="31" name="C1"/>
          <p:cNvSpPr/>
          <p:nvPr/>
        </p:nvSpPr>
        <p:spPr>
          <a:xfrm>
            <a:off x="457200" y="17202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df["rating"].value_counts()</a:t>
            </a:r>
          </a:p>
        </p:txBody>
      </p:sp>
      <p:sp>
        <p:nvSpPr>
          <p:cNvPr id="32" name="C2"/>
          <p:cNvSpPr/>
          <p:nvPr/>
        </p:nvSpPr>
        <p:spPr>
          <a:xfrm>
            <a:off x="457200" y="20129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  .plot(kind="bar")</a:t>
            </a:r>
          </a:p>
        </p:txBody>
      </p:sp>
      <p:sp>
        <p:nvSpPr>
          <p:cNvPr id="33" name="C3"/>
          <p:cNvSpPr/>
          <p:nvPr/>
        </p:nvSpPr>
        <p:spPr>
          <a:xfrm>
            <a:off x="457200" y="2305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plt.title("Rating Distribution")</a:t>
            </a:r>
          </a:p>
        </p:txBody>
      </p:sp>
      <p:sp>
        <p:nvSpPr>
          <p:cNvPr id="34" name="C4"/>
          <p:cNvSpPr/>
          <p:nvPr/>
        </p:nvSpPr>
        <p:spPr>
          <a:xfrm>
            <a:off x="457200" y="2598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plt.show()</a:t>
            </a:r>
          </a:p>
        </p:txBody>
      </p:sp>
      <p:sp>
        <p:nvSpPr>
          <p:cNvPr id="51" name="TT"/>
          <p:cNvSpPr/>
          <p:nvPr/>
        </p:nvSpPr>
        <p:spPr>
          <a:xfrm>
            <a:off x="4846440" y="1006920"/>
            <a:ext cx="3936720" cy="54864"/>
          </a:xfrm>
          <a:prstGeom prst="rect">
            <a:avLst/>
          </a:prstGeom>
          <a:solidFill>
            <a:srgbClr val="E50914"/>
          </a:solidFill>
          <a:ln/>
        </p:spPr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D385D33-3731-8171-AC0D-CFD9FCF3A593}"/>
              </a:ext>
            </a:extLst>
          </p:cNvPr>
          <p:cNvGrpSpPr/>
          <p:nvPr/>
        </p:nvGrpSpPr>
        <p:grpSpPr>
          <a:xfrm>
            <a:off x="2820318" y="1088153"/>
            <a:ext cx="1843122" cy="2791315"/>
            <a:chOff x="4846440" y="1006920"/>
            <a:chExt cx="3936720" cy="2560320"/>
          </a:xfrm>
        </p:grpSpPr>
        <p:sp>
          <p:nvSpPr>
            <p:cNvPr id="50" name="TB"/>
            <p:cNvSpPr/>
            <p:nvPr/>
          </p:nvSpPr>
          <p:spPr>
            <a:xfrm>
              <a:off x="4846440" y="1006920"/>
              <a:ext cx="3936720" cy="2560320"/>
            </a:xfrm>
            <a:prstGeom prst="rect">
              <a:avLst/>
            </a:prstGeom>
            <a:solidFill>
              <a:srgbClr val="1E1E1E"/>
            </a:solidFill>
            <a:ln/>
          </p:spPr>
        </p:sp>
        <p:sp>
          <p:nvSpPr>
            <p:cNvPr id="52" name="TTit"/>
            <p:cNvSpPr/>
            <p:nvPr/>
          </p:nvSpPr>
          <p:spPr>
            <a:xfrm>
              <a:off x="4937880" y="1061784"/>
              <a:ext cx="3754080" cy="365760"/>
            </a:xfrm>
            <a:prstGeom prst="rect">
              <a:avLst/>
            </a:prstGeom>
            <a:noFill/>
            <a:ln/>
          </p:spPr>
          <p:txBody>
            <a:bodyPr wrap="square" lIns="0" t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</a:rPr>
                <a:t>Rating Counts</a:t>
              </a:r>
            </a:p>
          </p:txBody>
        </p:sp>
        <p:sp>
          <p:nvSpPr>
            <p:cNvPr id="61" name="R10"/>
            <p:cNvSpPr/>
            <p:nvPr/>
          </p:nvSpPr>
          <p:spPr>
            <a:xfrm>
              <a:off x="4937880" y="151812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CCCCC"/>
                  </a:solidFill>
                  <a:latin typeface="Calibri" pitchFamily="34" charset="0"/>
                </a:rPr>
                <a:t>TV-MA</a:t>
              </a:r>
            </a:p>
          </p:txBody>
        </p:sp>
        <p:sp>
          <p:nvSpPr>
            <p:cNvPr id="62" name="R20"/>
            <p:cNvSpPr/>
            <p:nvPr/>
          </p:nvSpPr>
          <p:spPr>
            <a:xfrm>
              <a:off x="7223400" y="1518120"/>
              <a:ext cx="456840" cy="365760"/>
            </a:xfrm>
            <a:prstGeom prst="rect">
              <a:avLst/>
            </a:prstGeom>
            <a:noFill/>
            <a:ln/>
          </p:spPr>
          <p:txBody>
            <a:bodyPr wrap="square" lIns="0" t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E50914"/>
                  </a:solidFill>
                  <a:latin typeface="Calibri" pitchFamily="34" charset="0"/>
                </a:rPr>
                <a:t>92</a:t>
              </a:r>
            </a:p>
          </p:txBody>
        </p:sp>
        <p:sp>
          <p:nvSpPr>
            <p:cNvPr id="64" name="R11"/>
            <p:cNvSpPr/>
            <p:nvPr/>
          </p:nvSpPr>
          <p:spPr>
            <a:xfrm>
              <a:off x="4937880" y="188388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CCCCC"/>
                  </a:solidFill>
                  <a:latin typeface="Calibri" pitchFamily="34" charset="0"/>
                </a:rPr>
                <a:t>PG</a:t>
              </a:r>
            </a:p>
          </p:txBody>
        </p:sp>
        <p:sp>
          <p:nvSpPr>
            <p:cNvPr id="65" name="R21"/>
            <p:cNvSpPr/>
            <p:nvPr/>
          </p:nvSpPr>
          <p:spPr>
            <a:xfrm>
              <a:off x="7223400" y="1883880"/>
              <a:ext cx="456840" cy="365760"/>
            </a:xfrm>
            <a:prstGeom prst="rect">
              <a:avLst/>
            </a:prstGeom>
            <a:noFill/>
            <a:ln/>
          </p:spPr>
          <p:txBody>
            <a:bodyPr wrap="square" lIns="0" t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E50914"/>
                  </a:solidFill>
                  <a:latin typeface="Calibri" pitchFamily="34" charset="0"/>
                </a:rPr>
                <a:t>87</a:t>
              </a:r>
            </a:p>
          </p:txBody>
        </p:sp>
        <p:sp>
          <p:nvSpPr>
            <p:cNvPr id="67" name="R12"/>
            <p:cNvSpPr/>
            <p:nvPr/>
          </p:nvSpPr>
          <p:spPr>
            <a:xfrm>
              <a:off x="4937880" y="224964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CCCCC"/>
                  </a:solidFill>
                  <a:latin typeface="Calibri" pitchFamily="34" charset="0"/>
                </a:rPr>
                <a:t>TV-14</a:t>
              </a:r>
            </a:p>
          </p:txBody>
        </p:sp>
        <p:sp>
          <p:nvSpPr>
            <p:cNvPr id="68" name="R22"/>
            <p:cNvSpPr/>
            <p:nvPr/>
          </p:nvSpPr>
          <p:spPr>
            <a:xfrm>
              <a:off x="7223400" y="2249640"/>
              <a:ext cx="456840" cy="365760"/>
            </a:xfrm>
            <a:prstGeom prst="rect">
              <a:avLst/>
            </a:prstGeom>
            <a:noFill/>
            <a:ln/>
          </p:spPr>
          <p:txBody>
            <a:bodyPr wrap="square" lIns="0" t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E50914"/>
                  </a:solidFill>
                  <a:latin typeface="Calibri" pitchFamily="34" charset="0"/>
                </a:rPr>
                <a:t>83</a:t>
              </a:r>
            </a:p>
          </p:txBody>
        </p:sp>
        <p:sp>
          <p:nvSpPr>
            <p:cNvPr id="70" name="R13"/>
            <p:cNvSpPr/>
            <p:nvPr/>
          </p:nvSpPr>
          <p:spPr>
            <a:xfrm>
              <a:off x="4937880" y="261540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CCCCC"/>
                  </a:solidFill>
                  <a:latin typeface="Calibri" pitchFamily="34" charset="0"/>
                </a:rPr>
                <a:t>PG-13</a:t>
              </a:r>
            </a:p>
          </p:txBody>
        </p:sp>
        <p:sp>
          <p:nvSpPr>
            <p:cNvPr id="71" name="R23"/>
            <p:cNvSpPr/>
            <p:nvPr/>
          </p:nvSpPr>
          <p:spPr>
            <a:xfrm>
              <a:off x="7223400" y="2615400"/>
              <a:ext cx="456840" cy="365760"/>
            </a:xfrm>
            <a:prstGeom prst="rect">
              <a:avLst/>
            </a:prstGeom>
            <a:noFill/>
            <a:ln/>
          </p:spPr>
          <p:txBody>
            <a:bodyPr wrap="square" lIns="0" t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E50914"/>
                  </a:solidFill>
                  <a:latin typeface="Calibri" pitchFamily="34" charset="0"/>
                </a:rPr>
                <a:t>70</a:t>
              </a:r>
            </a:p>
          </p:txBody>
        </p:sp>
        <p:sp>
          <p:nvSpPr>
            <p:cNvPr id="73" name="R14"/>
            <p:cNvSpPr/>
            <p:nvPr/>
          </p:nvSpPr>
          <p:spPr>
            <a:xfrm>
              <a:off x="4937880" y="298116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91440" tIns="9144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CCCCC"/>
                  </a:solidFill>
                  <a:latin typeface="Calibri" pitchFamily="34" charset="0"/>
                </a:rPr>
                <a:t>R</a:t>
              </a:r>
            </a:p>
          </p:txBody>
        </p:sp>
        <p:sp>
          <p:nvSpPr>
            <p:cNvPr id="74" name="R24"/>
            <p:cNvSpPr/>
            <p:nvPr/>
          </p:nvSpPr>
          <p:spPr>
            <a:xfrm>
              <a:off x="7223400" y="2981160"/>
              <a:ext cx="456840" cy="365760"/>
            </a:xfrm>
            <a:prstGeom prst="rect">
              <a:avLst/>
            </a:prstGeom>
            <a:noFill/>
            <a:ln/>
          </p:spPr>
          <p:txBody>
            <a:bodyPr wrap="square" lIns="0" t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E50914"/>
                  </a:solidFill>
                  <a:latin typeface="Calibri" pitchFamily="34" charset="0"/>
                </a:rPr>
                <a:t>68</a:t>
              </a:r>
            </a:p>
          </p:txBody>
        </p:sp>
      </p:grpSp>
      <p:sp>
        <p:nvSpPr>
          <p:cNvPr id="80" name="Note"/>
          <p:cNvSpPr/>
          <p:nvPr/>
        </p:nvSpPr>
        <p:spPr>
          <a:xfrm>
            <a:off x="414501" y="41365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</a:rPr>
              <a:t>TV-MA dominates — showing Netflix targets mature adult audiences most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646DE9-4362-A0A0-6375-7B8EE801F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268" y="1161971"/>
            <a:ext cx="3612150" cy="27174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Step 7 — Top Genres on Netflix</a:t>
            </a:r>
          </a:p>
        </p:txBody>
      </p:sp>
      <p:sp>
        <p:nvSpPr>
          <p:cNvPr id="20" name="CB"/>
          <p:cNvSpPr/>
          <p:nvPr/>
        </p:nvSpPr>
        <p:spPr>
          <a:xfrm>
            <a:off x="365760" y="1006920"/>
            <a:ext cx="4297680" cy="2742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CT"/>
          <p:cNvSpPr/>
          <p:nvPr/>
        </p:nvSpPr>
        <p:spPr>
          <a:xfrm>
            <a:off x="365760" y="1006920"/>
            <a:ext cx="429768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CTit"/>
          <p:cNvSpPr/>
          <p:nvPr/>
        </p:nvSpPr>
        <p:spPr>
          <a:xfrm>
            <a:off x="457200" y="1061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Code</a:t>
            </a:r>
          </a:p>
        </p:txBody>
      </p:sp>
      <p:sp>
        <p:nvSpPr>
          <p:cNvPr id="30" name="C0"/>
          <p:cNvSpPr/>
          <p:nvPr/>
        </p:nvSpPr>
        <p:spPr>
          <a:xfrm>
            <a:off x="457200" y="1427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# Top genres</a:t>
            </a:r>
          </a:p>
        </p:txBody>
      </p:sp>
      <p:sp>
        <p:nvSpPr>
          <p:cNvPr id="31" name="C1"/>
          <p:cNvSpPr/>
          <p:nvPr/>
        </p:nvSpPr>
        <p:spPr>
          <a:xfrm>
            <a:off x="457200" y="17202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df["genre"].value_counts()</a:t>
            </a:r>
          </a:p>
        </p:txBody>
      </p:sp>
      <p:sp>
        <p:nvSpPr>
          <p:cNvPr id="32" name="C2"/>
          <p:cNvSpPr/>
          <p:nvPr/>
        </p:nvSpPr>
        <p:spPr>
          <a:xfrm>
            <a:off x="457200" y="20129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  .head(10).plot(kind="bar")</a:t>
            </a:r>
          </a:p>
        </p:txBody>
      </p:sp>
      <p:sp>
        <p:nvSpPr>
          <p:cNvPr id="33" name="C3"/>
          <p:cNvSpPr/>
          <p:nvPr/>
        </p:nvSpPr>
        <p:spPr>
          <a:xfrm>
            <a:off x="457200" y="2305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plt.title("Top Genres on Netflix")</a:t>
            </a:r>
          </a:p>
        </p:txBody>
      </p:sp>
      <p:sp>
        <p:nvSpPr>
          <p:cNvPr id="34" name="C4"/>
          <p:cNvSpPr/>
          <p:nvPr/>
        </p:nvSpPr>
        <p:spPr>
          <a:xfrm>
            <a:off x="457200" y="2598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plt.xticks(rotation=45)</a:t>
            </a:r>
          </a:p>
        </p:txBody>
      </p:sp>
      <p:sp>
        <p:nvSpPr>
          <p:cNvPr id="35" name="C5"/>
          <p:cNvSpPr/>
          <p:nvPr/>
        </p:nvSpPr>
        <p:spPr>
          <a:xfrm>
            <a:off x="457200" y="28907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plt.show()</a:t>
            </a:r>
          </a:p>
        </p:txBody>
      </p:sp>
      <p:sp>
        <p:nvSpPr>
          <p:cNvPr id="51" name="TT"/>
          <p:cNvSpPr/>
          <p:nvPr/>
        </p:nvSpPr>
        <p:spPr>
          <a:xfrm>
            <a:off x="4846440" y="1006920"/>
            <a:ext cx="3936720" cy="54864"/>
          </a:xfrm>
          <a:prstGeom prst="rect">
            <a:avLst/>
          </a:prstGeom>
          <a:solidFill>
            <a:srgbClr val="E50914"/>
          </a:solidFill>
          <a:ln/>
        </p:spPr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8001ACB-CD01-EB4A-04B4-C3512D6E9C26}"/>
              </a:ext>
            </a:extLst>
          </p:cNvPr>
          <p:cNvGrpSpPr/>
          <p:nvPr/>
        </p:nvGrpSpPr>
        <p:grpSpPr>
          <a:xfrm>
            <a:off x="2878080" y="1110166"/>
            <a:ext cx="2354932" cy="2624577"/>
            <a:chOff x="4846440" y="1006920"/>
            <a:chExt cx="3936720" cy="256032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CC0542F-6B70-A4C3-AC81-C33BCEA5F733}"/>
                </a:ext>
              </a:extLst>
            </p:cNvPr>
            <p:cNvGrpSpPr/>
            <p:nvPr/>
          </p:nvGrpSpPr>
          <p:grpSpPr>
            <a:xfrm>
              <a:off x="4846440" y="1006920"/>
              <a:ext cx="3936720" cy="2560320"/>
              <a:chOff x="4846440" y="1006920"/>
              <a:chExt cx="3936720" cy="2560320"/>
            </a:xfrm>
          </p:grpSpPr>
          <p:sp>
            <p:nvSpPr>
              <p:cNvPr id="50" name="TB"/>
              <p:cNvSpPr/>
              <p:nvPr/>
            </p:nvSpPr>
            <p:spPr>
              <a:xfrm>
                <a:off x="4846440" y="1006920"/>
                <a:ext cx="3936720" cy="2560320"/>
              </a:xfrm>
              <a:prstGeom prst="rect">
                <a:avLst/>
              </a:prstGeom>
              <a:solidFill>
                <a:srgbClr val="1E1E1E"/>
              </a:solidFill>
              <a:ln/>
            </p:spPr>
          </p:sp>
          <p:sp>
            <p:nvSpPr>
              <p:cNvPr id="52" name="TTit"/>
              <p:cNvSpPr/>
              <p:nvPr/>
            </p:nvSpPr>
            <p:spPr>
              <a:xfrm>
                <a:off x="4937880" y="1061784"/>
                <a:ext cx="375408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Calibri" pitchFamily="34" charset="0"/>
                  </a:rPr>
                  <a:t>Genre Counts</a:t>
                </a:r>
              </a:p>
            </p:txBody>
          </p:sp>
          <p:sp>
            <p:nvSpPr>
              <p:cNvPr id="60" name="R0"/>
              <p:cNvSpPr/>
              <p:nvPr/>
            </p:nvSpPr>
            <p:spPr>
              <a:xfrm>
                <a:off x="4846440" y="1518120"/>
                <a:ext cx="3936720" cy="292608"/>
              </a:xfrm>
              <a:prstGeom prst="rect">
                <a:avLst/>
              </a:prstGeom>
              <a:solidFill>
                <a:srgbClr val="252525"/>
              </a:solidFill>
              <a:ln/>
            </p:spPr>
          </p:sp>
          <p:sp>
            <p:nvSpPr>
              <p:cNvPr id="61" name="R10"/>
              <p:cNvSpPr/>
              <p:nvPr/>
            </p:nvSpPr>
            <p:spPr>
              <a:xfrm>
                <a:off x="4937880" y="1518120"/>
                <a:ext cx="2286000" cy="292608"/>
              </a:xfrm>
              <a:prstGeom prst="rect">
                <a:avLst/>
              </a:prstGeom>
              <a:noFill/>
              <a:ln/>
            </p:spPr>
            <p:txBody>
              <a:bodyPr wrap="square" lIns="91440" tIns="9144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CCCCCC"/>
                    </a:solidFill>
                    <a:latin typeface="Calibri" pitchFamily="34" charset="0"/>
                  </a:rPr>
                  <a:t>Horror</a:t>
                </a:r>
              </a:p>
            </p:txBody>
          </p:sp>
          <p:sp>
            <p:nvSpPr>
              <p:cNvPr id="62" name="R20"/>
              <p:cNvSpPr/>
              <p:nvPr/>
            </p:nvSpPr>
            <p:spPr>
              <a:xfrm>
                <a:off x="7223400" y="1518120"/>
                <a:ext cx="45684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E50914"/>
                    </a:solidFill>
                    <a:latin typeface="Calibri" pitchFamily="34" charset="0"/>
                  </a:rPr>
                  <a:t>73</a:t>
                </a:r>
              </a:p>
            </p:txBody>
          </p:sp>
          <p:sp>
            <p:nvSpPr>
              <p:cNvPr id="63" name="R1"/>
              <p:cNvSpPr/>
              <p:nvPr/>
            </p:nvSpPr>
            <p:spPr>
              <a:xfrm>
                <a:off x="4846440" y="1810728"/>
                <a:ext cx="3936720" cy="292608"/>
              </a:xfrm>
              <a:prstGeom prst="rect">
                <a:avLst/>
              </a:prstGeom>
              <a:solidFill>
                <a:srgbClr val="222222"/>
              </a:solidFill>
              <a:ln/>
            </p:spPr>
          </p:sp>
          <p:sp>
            <p:nvSpPr>
              <p:cNvPr id="64" name="R11"/>
              <p:cNvSpPr/>
              <p:nvPr/>
            </p:nvSpPr>
            <p:spPr>
              <a:xfrm>
                <a:off x="4937880" y="1810728"/>
                <a:ext cx="2286000" cy="292608"/>
              </a:xfrm>
              <a:prstGeom prst="rect">
                <a:avLst/>
              </a:prstGeom>
              <a:noFill/>
              <a:ln/>
            </p:spPr>
            <p:txBody>
              <a:bodyPr wrap="square" lIns="91440" tIns="9144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CCCCCC"/>
                    </a:solidFill>
                    <a:latin typeface="Calibri" pitchFamily="34" charset="0"/>
                  </a:rPr>
                  <a:t>Romance</a:t>
                </a:r>
              </a:p>
            </p:txBody>
          </p:sp>
          <p:sp>
            <p:nvSpPr>
              <p:cNvPr id="65" name="R21"/>
              <p:cNvSpPr/>
              <p:nvPr/>
            </p:nvSpPr>
            <p:spPr>
              <a:xfrm>
                <a:off x="7223400" y="1810728"/>
                <a:ext cx="45684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E50914"/>
                    </a:solidFill>
                    <a:latin typeface="Calibri" pitchFamily="34" charset="0"/>
                  </a:rPr>
                  <a:t>65</a:t>
                </a:r>
              </a:p>
            </p:txBody>
          </p:sp>
          <p:sp>
            <p:nvSpPr>
              <p:cNvPr id="66" name="R2"/>
              <p:cNvSpPr/>
              <p:nvPr/>
            </p:nvSpPr>
            <p:spPr>
              <a:xfrm>
                <a:off x="4846440" y="2103336"/>
                <a:ext cx="3936720" cy="292608"/>
              </a:xfrm>
              <a:prstGeom prst="rect">
                <a:avLst/>
              </a:prstGeom>
              <a:solidFill>
                <a:srgbClr val="1E1E1E"/>
              </a:solidFill>
              <a:ln/>
            </p:spPr>
          </p:sp>
          <p:sp>
            <p:nvSpPr>
              <p:cNvPr id="67" name="R12"/>
              <p:cNvSpPr/>
              <p:nvPr/>
            </p:nvSpPr>
            <p:spPr>
              <a:xfrm>
                <a:off x="4937880" y="2103336"/>
                <a:ext cx="2286000" cy="292608"/>
              </a:xfrm>
              <a:prstGeom prst="rect">
                <a:avLst/>
              </a:prstGeom>
              <a:noFill/>
              <a:ln/>
            </p:spPr>
            <p:txBody>
              <a:bodyPr wrap="square" lIns="91440" tIns="9144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CCCCCC"/>
                    </a:solidFill>
                    <a:latin typeface="Calibri" pitchFamily="34" charset="0"/>
                  </a:rPr>
                  <a:t>Comedy</a:t>
                </a:r>
              </a:p>
            </p:txBody>
          </p:sp>
          <p:sp>
            <p:nvSpPr>
              <p:cNvPr id="68" name="R22"/>
              <p:cNvSpPr/>
              <p:nvPr/>
            </p:nvSpPr>
            <p:spPr>
              <a:xfrm>
                <a:off x="7223400" y="2103336"/>
                <a:ext cx="45684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E50914"/>
                    </a:solidFill>
                    <a:latin typeface="Calibri" pitchFamily="34" charset="0"/>
                  </a:rPr>
                  <a:t>63</a:t>
                </a:r>
              </a:p>
            </p:txBody>
          </p:sp>
          <p:sp>
            <p:nvSpPr>
              <p:cNvPr id="69" name="R3"/>
              <p:cNvSpPr/>
              <p:nvPr/>
            </p:nvSpPr>
            <p:spPr>
              <a:xfrm>
                <a:off x="4846440" y="2395944"/>
                <a:ext cx="3936720" cy="292608"/>
              </a:xfrm>
              <a:prstGeom prst="rect">
                <a:avLst/>
              </a:prstGeom>
              <a:solidFill>
                <a:srgbClr val="222222"/>
              </a:solidFill>
              <a:ln/>
            </p:spPr>
          </p:sp>
          <p:sp>
            <p:nvSpPr>
              <p:cNvPr id="70" name="R13"/>
              <p:cNvSpPr/>
              <p:nvPr/>
            </p:nvSpPr>
            <p:spPr>
              <a:xfrm>
                <a:off x="4937880" y="2395944"/>
                <a:ext cx="2286000" cy="292608"/>
              </a:xfrm>
              <a:prstGeom prst="rect">
                <a:avLst/>
              </a:prstGeom>
              <a:noFill/>
              <a:ln/>
            </p:spPr>
            <p:txBody>
              <a:bodyPr wrap="square" lIns="91440" tIns="9144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CCCCCC"/>
                    </a:solidFill>
                    <a:latin typeface="Calibri" pitchFamily="34" charset="0"/>
                  </a:rPr>
                  <a:t>Sci-Fi</a:t>
                </a:r>
              </a:p>
            </p:txBody>
          </p:sp>
          <p:sp>
            <p:nvSpPr>
              <p:cNvPr id="71" name="R23"/>
              <p:cNvSpPr/>
              <p:nvPr/>
            </p:nvSpPr>
            <p:spPr>
              <a:xfrm>
                <a:off x="7223400" y="2395944"/>
                <a:ext cx="45684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E50914"/>
                    </a:solidFill>
                    <a:latin typeface="Calibri" pitchFamily="34" charset="0"/>
                  </a:rPr>
                  <a:t>59</a:t>
                </a:r>
              </a:p>
            </p:txBody>
          </p:sp>
          <p:sp>
            <p:nvSpPr>
              <p:cNvPr id="72" name="R4"/>
              <p:cNvSpPr/>
              <p:nvPr/>
            </p:nvSpPr>
            <p:spPr>
              <a:xfrm>
                <a:off x="4846440" y="2688552"/>
                <a:ext cx="3936720" cy="292608"/>
              </a:xfrm>
              <a:prstGeom prst="rect">
                <a:avLst/>
              </a:prstGeom>
              <a:solidFill>
                <a:srgbClr val="1E1E1E"/>
              </a:solidFill>
              <a:ln/>
            </p:spPr>
          </p:sp>
          <p:sp>
            <p:nvSpPr>
              <p:cNvPr id="73" name="R14"/>
              <p:cNvSpPr/>
              <p:nvPr/>
            </p:nvSpPr>
            <p:spPr>
              <a:xfrm>
                <a:off x="4937880" y="2688552"/>
                <a:ext cx="2286000" cy="292608"/>
              </a:xfrm>
              <a:prstGeom prst="rect">
                <a:avLst/>
              </a:prstGeom>
              <a:noFill/>
              <a:ln/>
            </p:spPr>
            <p:txBody>
              <a:bodyPr wrap="square" lIns="91440" tIns="9144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CCCCCC"/>
                    </a:solidFill>
                    <a:latin typeface="Calibri" pitchFamily="34" charset="0"/>
                  </a:rPr>
                  <a:t>Drama</a:t>
                </a:r>
              </a:p>
            </p:txBody>
          </p:sp>
          <p:sp>
            <p:nvSpPr>
              <p:cNvPr id="74" name="R24"/>
              <p:cNvSpPr/>
              <p:nvPr/>
            </p:nvSpPr>
            <p:spPr>
              <a:xfrm>
                <a:off x="7223400" y="2688552"/>
                <a:ext cx="45684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E50914"/>
                    </a:solidFill>
                    <a:latin typeface="Calibri" pitchFamily="34" charset="0"/>
                  </a:rPr>
                  <a:t>52</a:t>
                </a:r>
              </a:p>
            </p:txBody>
          </p:sp>
          <p:sp>
            <p:nvSpPr>
              <p:cNvPr id="75" name="R5"/>
              <p:cNvSpPr/>
              <p:nvPr/>
            </p:nvSpPr>
            <p:spPr>
              <a:xfrm>
                <a:off x="4846440" y="2981160"/>
                <a:ext cx="3936720" cy="292608"/>
              </a:xfrm>
              <a:prstGeom prst="rect">
                <a:avLst/>
              </a:prstGeom>
              <a:solidFill>
                <a:srgbClr val="222222"/>
              </a:solidFill>
              <a:ln/>
            </p:spPr>
          </p:sp>
          <p:sp>
            <p:nvSpPr>
              <p:cNvPr id="76" name="R15"/>
              <p:cNvSpPr/>
              <p:nvPr/>
            </p:nvSpPr>
            <p:spPr>
              <a:xfrm>
                <a:off x="4937880" y="2981160"/>
                <a:ext cx="2286000" cy="292608"/>
              </a:xfrm>
              <a:prstGeom prst="rect">
                <a:avLst/>
              </a:prstGeom>
              <a:noFill/>
              <a:ln/>
            </p:spPr>
            <p:txBody>
              <a:bodyPr wrap="square" lIns="91440" tIns="9144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CCCCCC"/>
                    </a:solidFill>
                    <a:latin typeface="Calibri" pitchFamily="34" charset="0"/>
                  </a:rPr>
                  <a:t>Action</a:t>
                </a:r>
              </a:p>
            </p:txBody>
          </p:sp>
          <p:sp>
            <p:nvSpPr>
              <p:cNvPr id="77" name="R25"/>
              <p:cNvSpPr/>
              <p:nvPr/>
            </p:nvSpPr>
            <p:spPr>
              <a:xfrm>
                <a:off x="7223400" y="2981160"/>
                <a:ext cx="45684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E50914"/>
                    </a:solidFill>
                    <a:latin typeface="Calibri" pitchFamily="34" charset="0"/>
                  </a:rPr>
                  <a:t>49</a:t>
                </a:r>
              </a:p>
            </p:txBody>
          </p:sp>
          <p:sp>
            <p:nvSpPr>
              <p:cNvPr id="78" name="R6"/>
              <p:cNvSpPr/>
              <p:nvPr/>
            </p:nvSpPr>
            <p:spPr>
              <a:xfrm>
                <a:off x="4846440" y="3273768"/>
                <a:ext cx="3936720" cy="292608"/>
              </a:xfrm>
              <a:prstGeom prst="rect">
                <a:avLst/>
              </a:prstGeom>
              <a:solidFill>
                <a:srgbClr val="1E1E1E"/>
              </a:solidFill>
              <a:ln/>
            </p:spPr>
          </p:sp>
          <p:sp>
            <p:nvSpPr>
              <p:cNvPr id="79" name="R16"/>
              <p:cNvSpPr/>
              <p:nvPr/>
            </p:nvSpPr>
            <p:spPr>
              <a:xfrm>
                <a:off x="4937880" y="3273768"/>
                <a:ext cx="2286000" cy="292608"/>
              </a:xfrm>
              <a:prstGeom prst="rect">
                <a:avLst/>
              </a:prstGeom>
              <a:noFill/>
              <a:ln/>
            </p:spPr>
            <p:txBody>
              <a:bodyPr wrap="square" lIns="91440" tIns="9144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CCCCCC"/>
                    </a:solidFill>
                    <a:latin typeface="Calibri" pitchFamily="34" charset="0"/>
                  </a:rPr>
                  <a:t>Documentary</a:t>
                </a:r>
              </a:p>
            </p:txBody>
          </p:sp>
        </p:grpSp>
        <p:sp>
          <p:nvSpPr>
            <p:cNvPr id="80" name="R26"/>
            <p:cNvSpPr/>
            <p:nvPr/>
          </p:nvSpPr>
          <p:spPr>
            <a:xfrm>
              <a:off x="7223400" y="3273768"/>
              <a:ext cx="456840" cy="292608"/>
            </a:xfrm>
            <a:prstGeom prst="rect">
              <a:avLst/>
            </a:prstGeom>
            <a:noFill/>
            <a:ln/>
          </p:spPr>
          <p:txBody>
            <a:bodyPr wrap="square" lIns="0" t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E50914"/>
                  </a:solidFill>
                  <a:latin typeface="Calibri" pitchFamily="34" charset="0"/>
                </a:rPr>
                <a:t>39</a:t>
              </a:r>
            </a:p>
          </p:txBody>
        </p:sp>
      </p:grpSp>
      <p:sp>
        <p:nvSpPr>
          <p:cNvPr id="6" name="Note"/>
          <p:cNvSpPr/>
          <p:nvPr/>
        </p:nvSpPr>
        <p:spPr>
          <a:xfrm>
            <a:off x="365760" y="3882127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r>
              <a:rPr lang="en-US" sz="1400" dirty="0"/>
              <a:t>Horror leads</a:t>
            </a:r>
            <a:endParaRPr lang="en-US" sz="1300" dirty="0">
              <a:solidFill>
                <a:srgbClr val="777777"/>
              </a:solidFill>
              <a:latin typeface="Calibri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75BD1A-B92F-1368-7354-BC0F5889A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606" y="1137262"/>
            <a:ext cx="3196547" cy="26693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Step 8 — Yearly Content Trend</a:t>
            </a:r>
          </a:p>
        </p:txBody>
      </p:sp>
      <p:sp>
        <p:nvSpPr>
          <p:cNvPr id="20" name="CB"/>
          <p:cNvSpPr/>
          <p:nvPr/>
        </p:nvSpPr>
        <p:spPr>
          <a:xfrm>
            <a:off x="365760" y="1006920"/>
            <a:ext cx="8412480" cy="374918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CT"/>
          <p:cNvSpPr/>
          <p:nvPr/>
        </p:nvSpPr>
        <p:spPr>
          <a:xfrm>
            <a:off x="365760" y="1006920"/>
            <a:ext cx="841248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CTit"/>
          <p:cNvSpPr/>
          <p:nvPr/>
        </p:nvSpPr>
        <p:spPr>
          <a:xfrm>
            <a:off x="457200" y="10617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Yearly Trend Analysis Code</a:t>
            </a:r>
          </a:p>
        </p:txBody>
      </p:sp>
      <p:sp>
        <p:nvSpPr>
          <p:cNvPr id="30" name="C0"/>
          <p:cNvSpPr/>
          <p:nvPr/>
        </p:nvSpPr>
        <p:spPr>
          <a:xfrm>
            <a:off x="457200" y="14276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# Yearly content trend</a:t>
            </a:r>
          </a:p>
        </p:txBody>
      </p:sp>
      <p:sp>
        <p:nvSpPr>
          <p:cNvPr id="31" name="C1"/>
          <p:cNvSpPr/>
          <p:nvPr/>
        </p:nvSpPr>
        <p:spPr>
          <a:xfrm>
            <a:off x="457200" y="16654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df.groupby("release_year")</a:t>
            </a:r>
          </a:p>
        </p:txBody>
      </p:sp>
      <p:sp>
        <p:nvSpPr>
          <p:cNvPr id="32" name="C2"/>
          <p:cNvSpPr/>
          <p:nvPr/>
        </p:nvSpPr>
        <p:spPr>
          <a:xfrm>
            <a:off x="457200" y="19031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  .size()</a:t>
            </a:r>
          </a:p>
        </p:txBody>
      </p:sp>
      <p:sp>
        <p:nvSpPr>
          <p:cNvPr id="33" name="C3"/>
          <p:cNvSpPr/>
          <p:nvPr/>
        </p:nvSpPr>
        <p:spPr>
          <a:xfrm>
            <a:off x="457200" y="21409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  .plot(kind="line")</a:t>
            </a:r>
          </a:p>
        </p:txBody>
      </p:sp>
      <p:sp>
        <p:nvSpPr>
          <p:cNvPr id="34" name="C4"/>
          <p:cNvSpPr/>
          <p:nvPr/>
        </p:nvSpPr>
        <p:spPr>
          <a:xfrm>
            <a:off x="457200" y="2378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plt.title("Yearly Content Trend")</a:t>
            </a:r>
          </a:p>
        </p:txBody>
      </p:sp>
      <p:sp>
        <p:nvSpPr>
          <p:cNvPr id="35" name="C5"/>
          <p:cNvSpPr/>
          <p:nvPr/>
        </p:nvSpPr>
        <p:spPr>
          <a:xfrm>
            <a:off x="457200" y="26164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plt.show()</a:t>
            </a:r>
          </a:p>
        </p:txBody>
      </p:sp>
      <p:sp>
        <p:nvSpPr>
          <p:cNvPr id="36" name="C6"/>
          <p:cNvSpPr/>
          <p:nvPr/>
        </p:nvSpPr>
        <p:spPr>
          <a:xfrm>
            <a:off x="457200" y="28541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37" name="C7"/>
          <p:cNvSpPr/>
          <p:nvPr/>
        </p:nvSpPr>
        <p:spPr>
          <a:xfrm>
            <a:off x="457200" y="3091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# Movie vs TV Show trends</a:t>
            </a:r>
          </a:p>
        </p:txBody>
      </p:sp>
      <p:sp>
        <p:nvSpPr>
          <p:cNvPr id="38" name="C8"/>
          <p:cNvSpPr/>
          <p:nvPr/>
        </p:nvSpPr>
        <p:spPr>
          <a:xfrm>
            <a:off x="457200" y="3329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movies = df[df["type"]=="Movie"]</a:t>
            </a:r>
          </a:p>
        </p:txBody>
      </p:sp>
      <p:sp>
        <p:nvSpPr>
          <p:cNvPr id="39" name="C9"/>
          <p:cNvSpPr/>
          <p:nvPr/>
        </p:nvSpPr>
        <p:spPr>
          <a:xfrm>
            <a:off x="457200" y="3567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tvshows = df[df["type"]=="TV Show"]</a:t>
            </a:r>
          </a:p>
        </p:txBody>
      </p:sp>
      <p:sp>
        <p:nvSpPr>
          <p:cNvPr id="40" name="C10"/>
          <p:cNvSpPr/>
          <p:nvPr/>
        </p:nvSpPr>
        <p:spPr>
          <a:xfrm>
            <a:off x="457200" y="3805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movies["release_year"]</a:t>
            </a:r>
          </a:p>
        </p:txBody>
      </p:sp>
      <p:sp>
        <p:nvSpPr>
          <p:cNvPr id="41" name="C11"/>
          <p:cNvSpPr/>
          <p:nvPr/>
        </p:nvSpPr>
        <p:spPr>
          <a:xfrm>
            <a:off x="457200" y="40428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  .value_counts().plot(kind="line")</a:t>
            </a:r>
          </a:p>
        </p:txBody>
      </p:sp>
      <p:sp>
        <p:nvSpPr>
          <p:cNvPr id="42" name="C12"/>
          <p:cNvSpPr/>
          <p:nvPr/>
        </p:nvSpPr>
        <p:spPr>
          <a:xfrm>
            <a:off x="457200" y="42806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tvshows["release_year"]</a:t>
            </a:r>
          </a:p>
        </p:txBody>
      </p:sp>
      <p:sp>
        <p:nvSpPr>
          <p:cNvPr id="43" name="C13"/>
          <p:cNvSpPr/>
          <p:nvPr/>
        </p:nvSpPr>
        <p:spPr>
          <a:xfrm>
            <a:off x="457200" y="4518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49" charset="0"/>
              </a:rPr>
              <a:t>  .value_counts().plot(kind="line")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FD7839-62D4-7D03-5DEE-EF0686405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145" y="1120567"/>
            <a:ext cx="4153480" cy="33977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Step 9 — Data Exploration &amp; Cleaning</a:t>
            </a:r>
          </a:p>
        </p:txBody>
      </p:sp>
      <p:sp>
        <p:nvSpPr>
          <p:cNvPr id="20" name="CB"/>
          <p:cNvSpPr/>
          <p:nvPr/>
        </p:nvSpPr>
        <p:spPr>
          <a:xfrm>
            <a:off x="365760" y="1006920"/>
            <a:ext cx="8412480" cy="39315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CT"/>
          <p:cNvSpPr/>
          <p:nvPr/>
        </p:nvSpPr>
        <p:spPr>
          <a:xfrm>
            <a:off x="365760" y="1006920"/>
            <a:ext cx="841248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CTit"/>
          <p:cNvSpPr/>
          <p:nvPr/>
        </p:nvSpPr>
        <p:spPr>
          <a:xfrm>
            <a:off x="457200" y="10617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Data Cleaning Code</a:t>
            </a:r>
          </a:p>
        </p:txBody>
      </p:sp>
      <p:sp>
        <p:nvSpPr>
          <p:cNvPr id="30" name="C0"/>
          <p:cNvSpPr/>
          <p:nvPr/>
        </p:nvSpPr>
        <p:spPr>
          <a:xfrm>
            <a:off x="457200" y="1427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49" charset="0"/>
              </a:rPr>
              <a:t># Check missing values</a:t>
            </a:r>
          </a:p>
        </p:txBody>
      </p:sp>
      <p:sp>
        <p:nvSpPr>
          <p:cNvPr id="31" name="C1"/>
          <p:cNvSpPr/>
          <p:nvPr/>
        </p:nvSpPr>
        <p:spPr>
          <a:xfrm>
            <a:off x="457200" y="16288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49" charset="0"/>
              </a:rPr>
              <a:t>df.isnull().sum()</a:t>
            </a:r>
          </a:p>
        </p:txBody>
      </p:sp>
      <p:sp>
        <p:nvSpPr>
          <p:cNvPr id="32" name="C2"/>
          <p:cNvSpPr/>
          <p:nvPr/>
        </p:nvSpPr>
        <p:spPr>
          <a:xfrm>
            <a:off x="457200" y="18300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33" name="C3"/>
          <p:cNvSpPr/>
          <p:nvPr/>
        </p:nvSpPr>
        <p:spPr>
          <a:xfrm>
            <a:off x="457200" y="20311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49" charset="0"/>
              </a:rPr>
              <a:t># Fill missing values</a:t>
            </a:r>
          </a:p>
        </p:txBody>
      </p:sp>
      <p:sp>
        <p:nvSpPr>
          <p:cNvPr id="34" name="C4"/>
          <p:cNvSpPr/>
          <p:nvPr/>
        </p:nvSpPr>
        <p:spPr>
          <a:xfrm>
            <a:off x="457200" y="22323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49" charset="0"/>
              </a:rPr>
              <a:t>for col in df.columns:</a:t>
            </a:r>
          </a:p>
        </p:txBody>
      </p:sp>
      <p:sp>
        <p:nvSpPr>
          <p:cNvPr id="35" name="C5"/>
          <p:cNvSpPr/>
          <p:nvPr/>
        </p:nvSpPr>
        <p:spPr>
          <a:xfrm>
            <a:off x="457200" y="2433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49" charset="0"/>
              </a:rPr>
              <a:t>    if df[col].dtype == "object":</a:t>
            </a:r>
          </a:p>
        </p:txBody>
      </p:sp>
      <p:sp>
        <p:nvSpPr>
          <p:cNvPr id="36" name="C6"/>
          <p:cNvSpPr/>
          <p:nvPr/>
        </p:nvSpPr>
        <p:spPr>
          <a:xfrm>
            <a:off x="457200" y="26346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49" charset="0"/>
              </a:rPr>
              <a:t>        df[col] = df[col].fillna("Unknown")</a:t>
            </a:r>
          </a:p>
        </p:txBody>
      </p:sp>
      <p:sp>
        <p:nvSpPr>
          <p:cNvPr id="37" name="C7"/>
          <p:cNvSpPr/>
          <p:nvPr/>
        </p:nvSpPr>
        <p:spPr>
          <a:xfrm>
            <a:off x="457200" y="28358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49" charset="0"/>
              </a:rPr>
              <a:t>    else:</a:t>
            </a:r>
          </a:p>
        </p:txBody>
      </p:sp>
      <p:sp>
        <p:nvSpPr>
          <p:cNvPr id="38" name="C8"/>
          <p:cNvSpPr/>
          <p:nvPr/>
        </p:nvSpPr>
        <p:spPr>
          <a:xfrm>
            <a:off x="457200" y="3037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49" charset="0"/>
              </a:rPr>
              <a:t>        df[col] = df[col].fillna(0)</a:t>
            </a:r>
          </a:p>
        </p:txBody>
      </p:sp>
      <p:sp>
        <p:nvSpPr>
          <p:cNvPr id="39" name="C9"/>
          <p:cNvSpPr/>
          <p:nvPr/>
        </p:nvSpPr>
        <p:spPr>
          <a:xfrm>
            <a:off x="457200" y="32382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40" name="C10"/>
          <p:cNvSpPr/>
          <p:nvPr/>
        </p:nvSpPr>
        <p:spPr>
          <a:xfrm>
            <a:off x="457200" y="3439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49" charset="0"/>
              </a:rPr>
              <a:t># Dataset info</a:t>
            </a:r>
          </a:p>
        </p:txBody>
      </p:sp>
      <p:sp>
        <p:nvSpPr>
          <p:cNvPr id="41" name="C11"/>
          <p:cNvSpPr/>
          <p:nvPr/>
        </p:nvSpPr>
        <p:spPr>
          <a:xfrm>
            <a:off x="457200" y="36405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49" charset="0"/>
              </a:rPr>
              <a:t>df.info()</a:t>
            </a:r>
          </a:p>
        </p:txBody>
      </p:sp>
      <p:sp>
        <p:nvSpPr>
          <p:cNvPr id="42" name="C12"/>
          <p:cNvSpPr/>
          <p:nvPr/>
        </p:nvSpPr>
        <p:spPr>
          <a:xfrm>
            <a:off x="457200" y="38417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49" charset="0"/>
              </a:rPr>
              <a:t>df.describe()</a:t>
            </a:r>
          </a:p>
        </p:txBody>
      </p:sp>
      <p:sp>
        <p:nvSpPr>
          <p:cNvPr id="43" name="C13"/>
          <p:cNvSpPr/>
          <p:nvPr/>
        </p:nvSpPr>
        <p:spPr>
          <a:xfrm>
            <a:off x="457200" y="40428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44" name="C14"/>
          <p:cNvSpPr/>
          <p:nvPr/>
        </p:nvSpPr>
        <p:spPr>
          <a:xfrm>
            <a:off x="457200" y="4244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49" charset="0"/>
              </a:rPr>
              <a:t># Shape and columns</a:t>
            </a:r>
          </a:p>
        </p:txBody>
      </p:sp>
      <p:sp>
        <p:nvSpPr>
          <p:cNvPr id="45" name="C15"/>
          <p:cNvSpPr/>
          <p:nvPr/>
        </p:nvSpPr>
        <p:spPr>
          <a:xfrm>
            <a:off x="457200" y="4445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49" charset="0"/>
              </a:rPr>
              <a:t>df.shape      # rows x columns</a:t>
            </a:r>
          </a:p>
        </p:txBody>
      </p:sp>
      <p:sp>
        <p:nvSpPr>
          <p:cNvPr id="46" name="C16"/>
          <p:cNvSpPr/>
          <p:nvPr/>
        </p:nvSpPr>
        <p:spPr>
          <a:xfrm>
            <a:off x="457200" y="46463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49" charset="0"/>
              </a:rPr>
              <a:t>df.columns    # column names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CFC3B-B0B9-B374-C560-A2DAEC0E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>
            <a:extLst>
              <a:ext uri="{FF2B5EF4-FFF2-40B4-BE49-F238E27FC236}">
                <a16:creationId xmlns:a16="http://schemas.microsoft.com/office/drawing/2014/main" id="{03B91E8C-9BA3-AF53-9277-E2D727CE237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>
            <a:extLst>
              <a:ext uri="{FF2B5EF4-FFF2-40B4-BE49-F238E27FC236}">
                <a16:creationId xmlns:a16="http://schemas.microsoft.com/office/drawing/2014/main" id="{8C43A834-D6D8-DBCB-8FBD-C12B15FB1B64}"/>
              </a:ext>
            </a:extLst>
          </p:cNvPr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>
            <a:extLst>
              <a:ext uri="{FF2B5EF4-FFF2-40B4-BE49-F238E27FC236}">
                <a16:creationId xmlns:a16="http://schemas.microsoft.com/office/drawing/2014/main" id="{D72ADAC3-2787-643D-83F0-4D63F9619F03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>
            <a:extLst>
              <a:ext uri="{FF2B5EF4-FFF2-40B4-BE49-F238E27FC236}">
                <a16:creationId xmlns:a16="http://schemas.microsoft.com/office/drawing/2014/main" id="{5C5D02CC-4A9C-3E84-BDB0-79D298D22FFF}"/>
              </a:ext>
            </a:extLst>
          </p:cNvPr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Step 10 — Dashboard Code</a:t>
            </a:r>
          </a:p>
        </p:txBody>
      </p:sp>
      <p:sp>
        <p:nvSpPr>
          <p:cNvPr id="20" name="CB">
            <a:extLst>
              <a:ext uri="{FF2B5EF4-FFF2-40B4-BE49-F238E27FC236}">
                <a16:creationId xmlns:a16="http://schemas.microsoft.com/office/drawing/2014/main" id="{38C141B1-D5CA-BB4E-72B3-0895D11E0D09}"/>
              </a:ext>
            </a:extLst>
          </p:cNvPr>
          <p:cNvSpPr/>
          <p:nvPr/>
        </p:nvSpPr>
        <p:spPr>
          <a:xfrm>
            <a:off x="54864" y="1006920"/>
            <a:ext cx="8956934" cy="41365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CT">
            <a:extLst>
              <a:ext uri="{FF2B5EF4-FFF2-40B4-BE49-F238E27FC236}">
                <a16:creationId xmlns:a16="http://schemas.microsoft.com/office/drawing/2014/main" id="{52173C0D-AF92-52A7-7D6C-61B5D6C5F9C7}"/>
              </a:ext>
            </a:extLst>
          </p:cNvPr>
          <p:cNvSpPr/>
          <p:nvPr/>
        </p:nvSpPr>
        <p:spPr>
          <a:xfrm>
            <a:off x="90488" y="1006920"/>
            <a:ext cx="892131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CTit">
            <a:extLst>
              <a:ext uri="{FF2B5EF4-FFF2-40B4-BE49-F238E27FC236}">
                <a16:creationId xmlns:a16="http://schemas.microsoft.com/office/drawing/2014/main" id="{ECEEB502-0629-F5A2-271B-63F5E919E3EE}"/>
              </a:ext>
            </a:extLst>
          </p:cNvPr>
          <p:cNvSpPr/>
          <p:nvPr/>
        </p:nvSpPr>
        <p:spPr>
          <a:xfrm>
            <a:off x="457200" y="10617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Create 2x3 Dashboard Grid</a:t>
            </a:r>
          </a:p>
        </p:txBody>
      </p:sp>
      <p:sp>
        <p:nvSpPr>
          <p:cNvPr id="30" name="C0">
            <a:extLst>
              <a:ext uri="{FF2B5EF4-FFF2-40B4-BE49-F238E27FC236}">
                <a16:creationId xmlns:a16="http://schemas.microsoft.com/office/drawing/2014/main" id="{5CC27DCF-419B-8971-311E-3C4FB290BCCC}"/>
              </a:ext>
            </a:extLst>
          </p:cNvPr>
          <p:cNvSpPr/>
          <p:nvPr/>
        </p:nvSpPr>
        <p:spPr>
          <a:xfrm>
            <a:off x="457200" y="14276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fig, axs = plt.subplots(2, 3, figsize=(18, 10))</a:t>
            </a:r>
          </a:p>
        </p:txBody>
      </p:sp>
      <p:sp>
        <p:nvSpPr>
          <p:cNvPr id="31" name="C1">
            <a:extLst>
              <a:ext uri="{FF2B5EF4-FFF2-40B4-BE49-F238E27FC236}">
                <a16:creationId xmlns:a16="http://schemas.microsoft.com/office/drawing/2014/main" id="{D68D7031-458B-5D07-0243-3CB62EF9FB54}"/>
              </a:ext>
            </a:extLst>
          </p:cNvPr>
          <p:cNvSpPr/>
          <p:nvPr/>
        </p:nvSpPr>
        <p:spPr>
          <a:xfrm>
            <a:off x="457200" y="16105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axs[0,0].bar(type_counts.index, type_counts.values)</a:t>
            </a:r>
          </a:p>
        </p:txBody>
      </p:sp>
      <p:sp>
        <p:nvSpPr>
          <p:cNvPr id="32" name="C2">
            <a:extLst>
              <a:ext uri="{FF2B5EF4-FFF2-40B4-BE49-F238E27FC236}">
                <a16:creationId xmlns:a16="http://schemas.microsoft.com/office/drawing/2014/main" id="{DD723884-D9C1-244F-D5F8-661D012597C3}"/>
              </a:ext>
            </a:extLst>
          </p:cNvPr>
          <p:cNvSpPr/>
          <p:nvPr/>
        </p:nvSpPr>
        <p:spPr>
          <a:xfrm>
            <a:off x="457200" y="1793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axs[0,0].set_title("Movies vs TV Shows")</a:t>
            </a:r>
          </a:p>
        </p:txBody>
      </p:sp>
      <p:sp>
        <p:nvSpPr>
          <p:cNvPr id="33" name="C3">
            <a:extLst>
              <a:ext uri="{FF2B5EF4-FFF2-40B4-BE49-F238E27FC236}">
                <a16:creationId xmlns:a16="http://schemas.microsoft.com/office/drawing/2014/main" id="{31B4083E-0E0B-82B0-B54F-31B8CBC9A32D}"/>
              </a:ext>
            </a:extLst>
          </p:cNvPr>
          <p:cNvSpPr/>
          <p:nvPr/>
        </p:nvSpPr>
        <p:spPr>
          <a:xfrm>
            <a:off x="457200" y="19763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axs[0,1].bar(country_counts.index, country_counts.values)</a:t>
            </a:r>
          </a:p>
        </p:txBody>
      </p:sp>
      <p:sp>
        <p:nvSpPr>
          <p:cNvPr id="34" name="C4">
            <a:extLst>
              <a:ext uri="{FF2B5EF4-FFF2-40B4-BE49-F238E27FC236}">
                <a16:creationId xmlns:a16="http://schemas.microsoft.com/office/drawing/2014/main" id="{D23825E0-1052-D7A1-B662-C34E8D2A1C6A}"/>
              </a:ext>
            </a:extLst>
          </p:cNvPr>
          <p:cNvSpPr/>
          <p:nvPr/>
        </p:nvSpPr>
        <p:spPr>
          <a:xfrm>
            <a:off x="457200" y="21592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axs[0,1].set_title("Top Countries")</a:t>
            </a:r>
          </a:p>
        </p:txBody>
      </p:sp>
      <p:sp>
        <p:nvSpPr>
          <p:cNvPr id="35" name="C5">
            <a:extLst>
              <a:ext uri="{FF2B5EF4-FFF2-40B4-BE49-F238E27FC236}">
                <a16:creationId xmlns:a16="http://schemas.microsoft.com/office/drawing/2014/main" id="{F5AC9DB4-8C38-B0D7-4FEF-7713359507DC}"/>
              </a:ext>
            </a:extLst>
          </p:cNvPr>
          <p:cNvSpPr/>
          <p:nvPr/>
        </p:nvSpPr>
        <p:spPr>
          <a:xfrm>
            <a:off x="457200" y="23420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axs[0,2].bar(rating_counts.index, rating_counts.values)</a:t>
            </a:r>
          </a:p>
        </p:txBody>
      </p:sp>
      <p:sp>
        <p:nvSpPr>
          <p:cNvPr id="36" name="C6">
            <a:extLst>
              <a:ext uri="{FF2B5EF4-FFF2-40B4-BE49-F238E27FC236}">
                <a16:creationId xmlns:a16="http://schemas.microsoft.com/office/drawing/2014/main" id="{EBA84E5A-F02E-89FF-3FF0-639F0AC14562}"/>
              </a:ext>
            </a:extLst>
          </p:cNvPr>
          <p:cNvSpPr/>
          <p:nvPr/>
        </p:nvSpPr>
        <p:spPr>
          <a:xfrm>
            <a:off x="457200" y="25249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axs[0,2].set_title("Rating Distribution")</a:t>
            </a:r>
          </a:p>
        </p:txBody>
      </p:sp>
      <p:sp>
        <p:nvSpPr>
          <p:cNvPr id="37" name="C7">
            <a:extLst>
              <a:ext uri="{FF2B5EF4-FFF2-40B4-BE49-F238E27FC236}">
                <a16:creationId xmlns:a16="http://schemas.microsoft.com/office/drawing/2014/main" id="{D2EC72AB-F6E7-67D2-97B8-0D104CC5819D}"/>
              </a:ext>
            </a:extLst>
          </p:cNvPr>
          <p:cNvSpPr/>
          <p:nvPr/>
        </p:nvSpPr>
        <p:spPr>
          <a:xfrm>
            <a:off x="457200" y="27078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axs[1,0].bar(genre_counts.index, genre_counts.values)</a:t>
            </a:r>
          </a:p>
        </p:txBody>
      </p:sp>
      <p:sp>
        <p:nvSpPr>
          <p:cNvPr id="38" name="C8">
            <a:extLst>
              <a:ext uri="{FF2B5EF4-FFF2-40B4-BE49-F238E27FC236}">
                <a16:creationId xmlns:a16="http://schemas.microsoft.com/office/drawing/2014/main" id="{3EE0A543-9385-4237-E0E1-11D977929526}"/>
              </a:ext>
            </a:extLst>
          </p:cNvPr>
          <p:cNvSpPr/>
          <p:nvPr/>
        </p:nvSpPr>
        <p:spPr>
          <a:xfrm>
            <a:off x="457200" y="28907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axs[1,0].set_title("Top Genres")</a:t>
            </a:r>
          </a:p>
        </p:txBody>
      </p:sp>
      <p:sp>
        <p:nvSpPr>
          <p:cNvPr id="39" name="C9">
            <a:extLst>
              <a:ext uri="{FF2B5EF4-FFF2-40B4-BE49-F238E27FC236}">
                <a16:creationId xmlns:a16="http://schemas.microsoft.com/office/drawing/2014/main" id="{9A03715A-A9A3-C5E1-0616-D9EFCF3BC012}"/>
              </a:ext>
            </a:extLst>
          </p:cNvPr>
          <p:cNvSpPr/>
          <p:nvPr/>
        </p:nvSpPr>
        <p:spPr>
          <a:xfrm>
            <a:off x="457200" y="3073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axs[1,0].tick_params(axis="x", rotation=45)</a:t>
            </a:r>
          </a:p>
        </p:txBody>
      </p:sp>
      <p:sp>
        <p:nvSpPr>
          <p:cNvPr id="40" name="C10">
            <a:extLst>
              <a:ext uri="{FF2B5EF4-FFF2-40B4-BE49-F238E27FC236}">
                <a16:creationId xmlns:a16="http://schemas.microsoft.com/office/drawing/2014/main" id="{85C5F890-4776-1834-8C37-50BF74882B7D}"/>
              </a:ext>
            </a:extLst>
          </p:cNvPr>
          <p:cNvSpPr/>
          <p:nvPr/>
        </p:nvSpPr>
        <p:spPr>
          <a:xfrm>
            <a:off x="457200" y="32564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axs[1,1].plot(year_trend.index, year_trend.values)</a:t>
            </a:r>
          </a:p>
        </p:txBody>
      </p:sp>
      <p:sp>
        <p:nvSpPr>
          <p:cNvPr id="41" name="C11">
            <a:extLst>
              <a:ext uri="{FF2B5EF4-FFF2-40B4-BE49-F238E27FC236}">
                <a16:creationId xmlns:a16="http://schemas.microsoft.com/office/drawing/2014/main" id="{CCDA70A2-400C-9571-94FE-13244259A66B}"/>
              </a:ext>
            </a:extLst>
          </p:cNvPr>
          <p:cNvSpPr/>
          <p:nvPr/>
        </p:nvSpPr>
        <p:spPr>
          <a:xfrm>
            <a:off x="457200" y="34393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axs[1,1].set_title("Yearly Content Trend")</a:t>
            </a:r>
          </a:p>
        </p:txBody>
      </p:sp>
      <p:sp>
        <p:nvSpPr>
          <p:cNvPr id="42" name="C12">
            <a:extLst>
              <a:ext uri="{FF2B5EF4-FFF2-40B4-BE49-F238E27FC236}">
                <a16:creationId xmlns:a16="http://schemas.microsoft.com/office/drawing/2014/main" id="{9C8ECBD8-D99B-FF79-8113-7B05FFF1955B}"/>
              </a:ext>
            </a:extLst>
          </p:cNvPr>
          <p:cNvSpPr/>
          <p:nvPr/>
        </p:nvSpPr>
        <p:spPr>
          <a:xfrm>
            <a:off x="457200" y="3622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axs[1,2].plot(movie_trend.index, movie_trend.values, label="Movies")</a:t>
            </a:r>
          </a:p>
        </p:txBody>
      </p:sp>
      <p:sp>
        <p:nvSpPr>
          <p:cNvPr id="43" name="C13">
            <a:extLst>
              <a:ext uri="{FF2B5EF4-FFF2-40B4-BE49-F238E27FC236}">
                <a16:creationId xmlns:a16="http://schemas.microsoft.com/office/drawing/2014/main" id="{B93DFD8D-3240-E37C-6E8B-FA39A62230E0}"/>
              </a:ext>
            </a:extLst>
          </p:cNvPr>
          <p:cNvSpPr/>
          <p:nvPr/>
        </p:nvSpPr>
        <p:spPr>
          <a:xfrm>
            <a:off x="457200" y="38051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axs[1,2].plot(tv_trend.index, tv_trend.values, label="TV Shows")</a:t>
            </a:r>
          </a:p>
        </p:txBody>
      </p:sp>
      <p:sp>
        <p:nvSpPr>
          <p:cNvPr id="44" name="C14">
            <a:extLst>
              <a:ext uri="{FF2B5EF4-FFF2-40B4-BE49-F238E27FC236}">
                <a16:creationId xmlns:a16="http://schemas.microsoft.com/office/drawing/2014/main" id="{305EBF34-BE24-0DBF-FCE7-79C6B0A30E15}"/>
              </a:ext>
            </a:extLst>
          </p:cNvPr>
          <p:cNvSpPr/>
          <p:nvPr/>
        </p:nvSpPr>
        <p:spPr>
          <a:xfrm>
            <a:off x="457200" y="39880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axs[1,2].set_title("Movie vs TV Trends")</a:t>
            </a:r>
          </a:p>
        </p:txBody>
      </p:sp>
      <p:sp>
        <p:nvSpPr>
          <p:cNvPr id="45" name="C15">
            <a:extLst>
              <a:ext uri="{FF2B5EF4-FFF2-40B4-BE49-F238E27FC236}">
                <a16:creationId xmlns:a16="http://schemas.microsoft.com/office/drawing/2014/main" id="{DE836110-14CC-F8BB-162A-433DDE2DA371}"/>
              </a:ext>
            </a:extLst>
          </p:cNvPr>
          <p:cNvSpPr/>
          <p:nvPr/>
        </p:nvSpPr>
        <p:spPr>
          <a:xfrm>
            <a:off x="457200" y="41708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axs[1,2].legend()</a:t>
            </a:r>
          </a:p>
        </p:txBody>
      </p:sp>
      <p:sp>
        <p:nvSpPr>
          <p:cNvPr id="46" name="C16">
            <a:extLst>
              <a:ext uri="{FF2B5EF4-FFF2-40B4-BE49-F238E27FC236}">
                <a16:creationId xmlns:a16="http://schemas.microsoft.com/office/drawing/2014/main" id="{2FCEFC06-508C-4FEA-0F94-F635161F3F24}"/>
              </a:ext>
            </a:extLst>
          </p:cNvPr>
          <p:cNvSpPr/>
          <p:nvPr/>
        </p:nvSpPr>
        <p:spPr>
          <a:xfrm>
            <a:off x="457200" y="43537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fig.suptitle("Netflix Data Dashboard", fontsize=18)</a:t>
            </a:r>
          </a:p>
        </p:txBody>
      </p:sp>
      <p:sp>
        <p:nvSpPr>
          <p:cNvPr id="47" name="C17">
            <a:extLst>
              <a:ext uri="{FF2B5EF4-FFF2-40B4-BE49-F238E27FC236}">
                <a16:creationId xmlns:a16="http://schemas.microsoft.com/office/drawing/2014/main" id="{EFDCD1A1-8133-43B6-8399-41A0F44444EA}"/>
              </a:ext>
            </a:extLst>
          </p:cNvPr>
          <p:cNvSpPr/>
          <p:nvPr/>
        </p:nvSpPr>
        <p:spPr>
          <a:xfrm>
            <a:off x="457200" y="45366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plt.tight_layout()</a:t>
            </a:r>
          </a:p>
        </p:txBody>
      </p:sp>
      <p:sp>
        <p:nvSpPr>
          <p:cNvPr id="48" name="C18">
            <a:extLst>
              <a:ext uri="{FF2B5EF4-FFF2-40B4-BE49-F238E27FC236}">
                <a16:creationId xmlns:a16="http://schemas.microsoft.com/office/drawing/2014/main" id="{232F5760-3C6D-1FF8-7C61-56D18AE98818}"/>
              </a:ext>
            </a:extLst>
          </p:cNvPr>
          <p:cNvSpPr/>
          <p:nvPr/>
        </p:nvSpPr>
        <p:spPr>
          <a:xfrm>
            <a:off x="457200" y="4719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plt.savefig("netflix_dashboard.png", bbox_inches="tight", dpi=150)</a:t>
            </a:r>
          </a:p>
        </p:txBody>
      </p:sp>
      <p:sp>
        <p:nvSpPr>
          <p:cNvPr id="49" name="C19">
            <a:extLst>
              <a:ext uri="{FF2B5EF4-FFF2-40B4-BE49-F238E27FC236}">
                <a16:creationId xmlns:a16="http://schemas.microsoft.com/office/drawing/2014/main" id="{E302D740-2067-AB44-7868-E88595BA4861}"/>
              </a:ext>
            </a:extLst>
          </p:cNvPr>
          <p:cNvSpPr/>
          <p:nvPr/>
        </p:nvSpPr>
        <p:spPr>
          <a:xfrm>
            <a:off x="457200" y="49024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EC9B0"/>
                </a:solidFill>
                <a:latin typeface="Consolas" pitchFamily="49" charset="0"/>
              </a:rPr>
              <a:t>plt.show()</a:t>
            </a:r>
          </a:p>
        </p:txBody>
      </p:sp>
    </p:spTree>
    <p:extLst>
      <p:ext uri="{BB962C8B-B14F-4D97-AF65-F5344CB8AC3E}">
        <p14:creationId xmlns:p14="http://schemas.microsoft.com/office/powerpoint/2010/main" val="3390646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Dashboard - 1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8001A4-3548-7681-243B-4E9F5EE11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18" y="1078992"/>
            <a:ext cx="8879596" cy="40070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B6859-241B-A0D8-D3B6-798372B1F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>
            <a:extLst>
              <a:ext uri="{FF2B5EF4-FFF2-40B4-BE49-F238E27FC236}">
                <a16:creationId xmlns:a16="http://schemas.microsoft.com/office/drawing/2014/main" id="{4DCEF5B6-078C-8880-C377-3F9EDD414E6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>
            <a:extLst>
              <a:ext uri="{FF2B5EF4-FFF2-40B4-BE49-F238E27FC236}">
                <a16:creationId xmlns:a16="http://schemas.microsoft.com/office/drawing/2014/main" id="{08A5F3D6-88EC-0209-195A-AFF77DD1BBA7}"/>
              </a:ext>
            </a:extLst>
          </p:cNvPr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>
            <a:extLst>
              <a:ext uri="{FF2B5EF4-FFF2-40B4-BE49-F238E27FC236}">
                <a16:creationId xmlns:a16="http://schemas.microsoft.com/office/drawing/2014/main" id="{E2AB606E-D3A7-8814-7108-67096C44D23F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>
            <a:extLst>
              <a:ext uri="{FF2B5EF4-FFF2-40B4-BE49-F238E27FC236}">
                <a16:creationId xmlns:a16="http://schemas.microsoft.com/office/drawing/2014/main" id="{9383A1EA-371D-42BF-40B0-8CDFB43389A3}"/>
              </a:ext>
            </a:extLst>
          </p:cNvPr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Dashboard - 2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7EC8C-9915-D64F-1A73-BEC8D34E9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1024128"/>
            <a:ext cx="8915400" cy="400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897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Step 11 — Key Insights &amp; Findings</a:t>
            </a:r>
          </a:p>
        </p:txBody>
      </p:sp>
      <p:sp>
        <p:nvSpPr>
          <p:cNvPr id="20" name="IC0"/>
          <p:cNvSpPr/>
          <p:nvPr/>
        </p:nvSpPr>
        <p:spPr>
          <a:xfrm>
            <a:off x="365760" y="1097280"/>
            <a:ext cx="256032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INum0"/>
          <p:cNvSpPr/>
          <p:nvPr/>
        </p:nvSpPr>
        <p:spPr>
          <a:xfrm>
            <a:off x="365760" y="1097280"/>
            <a:ext cx="438912" cy="34747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IN0"/>
          <p:cNvSpPr/>
          <p:nvPr/>
        </p:nvSpPr>
        <p:spPr>
          <a:xfrm>
            <a:off x="365760" y="109728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23" name="IT0"/>
          <p:cNvSpPr/>
          <p:nvPr/>
        </p:nvSpPr>
        <p:spPr>
          <a:xfrm>
            <a:off x="896112" y="1188720"/>
            <a:ext cx="1938240" cy="438912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</a:rPr>
              <a:t>TV Shows Lead</a:t>
            </a:r>
          </a:p>
        </p:txBody>
      </p:sp>
      <p:sp>
        <p:nvSpPr>
          <p:cNvPr id="24" name="ID0"/>
          <p:cNvSpPr/>
          <p:nvPr/>
        </p:nvSpPr>
        <p:spPr>
          <a:xfrm>
            <a:off x="457200" y="16276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TV Shows make up 53% vs Movies at 47%.</a:t>
            </a:r>
          </a:p>
        </p:txBody>
      </p:sp>
      <p:sp>
        <p:nvSpPr>
          <p:cNvPr id="6" name="IC1"/>
          <p:cNvSpPr/>
          <p:nvPr/>
        </p:nvSpPr>
        <p:spPr>
          <a:xfrm>
            <a:off x="3200400" y="1097280"/>
            <a:ext cx="256032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5" name="INum1"/>
          <p:cNvSpPr/>
          <p:nvPr/>
        </p:nvSpPr>
        <p:spPr>
          <a:xfrm>
            <a:off x="3200400" y="1097280"/>
            <a:ext cx="438912" cy="34747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6" name="IN1"/>
          <p:cNvSpPr/>
          <p:nvPr/>
        </p:nvSpPr>
        <p:spPr>
          <a:xfrm>
            <a:off x="3200400" y="109728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27" name="IT1"/>
          <p:cNvSpPr/>
          <p:nvPr/>
        </p:nvSpPr>
        <p:spPr>
          <a:xfrm>
            <a:off x="3730752" y="1188720"/>
            <a:ext cx="1938240" cy="438912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</a:rPr>
              <a:t>India on Top</a:t>
            </a:r>
          </a:p>
        </p:txBody>
      </p:sp>
      <p:sp>
        <p:nvSpPr>
          <p:cNvPr id="28" name="ID1"/>
          <p:cNvSpPr/>
          <p:nvPr/>
        </p:nvSpPr>
        <p:spPr>
          <a:xfrm>
            <a:off x="3291840" y="16276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India produces the most Netflix content.</a:t>
            </a:r>
          </a:p>
        </p:txBody>
      </p:sp>
      <p:sp>
        <p:nvSpPr>
          <p:cNvPr id="7" name="IC2"/>
          <p:cNvSpPr/>
          <p:nvPr/>
        </p:nvSpPr>
        <p:spPr>
          <a:xfrm>
            <a:off x="365760" y="2377440"/>
            <a:ext cx="256032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9" name="INum2"/>
          <p:cNvSpPr/>
          <p:nvPr/>
        </p:nvSpPr>
        <p:spPr>
          <a:xfrm>
            <a:off x="365760" y="2377440"/>
            <a:ext cx="438912" cy="34747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0" name="IN2"/>
          <p:cNvSpPr/>
          <p:nvPr/>
        </p:nvSpPr>
        <p:spPr>
          <a:xfrm>
            <a:off x="365760" y="237744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31" name="IT2"/>
          <p:cNvSpPr/>
          <p:nvPr/>
        </p:nvSpPr>
        <p:spPr>
          <a:xfrm>
            <a:off x="896112" y="2468880"/>
            <a:ext cx="1938240" cy="438912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</a:rPr>
              <a:t>Mature Content</a:t>
            </a:r>
          </a:p>
        </p:txBody>
      </p:sp>
      <p:sp>
        <p:nvSpPr>
          <p:cNvPr id="32" name="ID2"/>
          <p:cNvSpPr/>
          <p:nvPr/>
        </p:nvSpPr>
        <p:spPr>
          <a:xfrm>
            <a:off x="457200" y="29077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TV-MA is the most common rating.</a:t>
            </a:r>
          </a:p>
        </p:txBody>
      </p:sp>
      <p:sp>
        <p:nvSpPr>
          <p:cNvPr id="8" name="IC3"/>
          <p:cNvSpPr/>
          <p:nvPr/>
        </p:nvSpPr>
        <p:spPr>
          <a:xfrm>
            <a:off x="3200400" y="2377440"/>
            <a:ext cx="256032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3" name="INum3"/>
          <p:cNvSpPr/>
          <p:nvPr/>
        </p:nvSpPr>
        <p:spPr>
          <a:xfrm>
            <a:off x="3200400" y="2377440"/>
            <a:ext cx="438912" cy="34747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4" name="IN3"/>
          <p:cNvSpPr/>
          <p:nvPr/>
        </p:nvSpPr>
        <p:spPr>
          <a:xfrm>
            <a:off x="3200400" y="237744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04</a:t>
            </a:r>
          </a:p>
        </p:txBody>
      </p:sp>
      <p:sp>
        <p:nvSpPr>
          <p:cNvPr id="35" name="IT3"/>
          <p:cNvSpPr/>
          <p:nvPr/>
        </p:nvSpPr>
        <p:spPr>
          <a:xfrm>
            <a:off x="3730752" y="2468880"/>
            <a:ext cx="1938240" cy="438912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</a:rPr>
              <a:t>Horror #1 Genre</a:t>
            </a:r>
          </a:p>
        </p:txBody>
      </p:sp>
      <p:sp>
        <p:nvSpPr>
          <p:cNvPr id="36" name="ID3"/>
          <p:cNvSpPr/>
          <p:nvPr/>
        </p:nvSpPr>
        <p:spPr>
          <a:xfrm>
            <a:off x="3291840" y="29077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Horror leads, followed by Romance &amp; Comedy.</a:t>
            </a:r>
          </a:p>
        </p:txBody>
      </p:sp>
      <p:sp>
        <p:nvSpPr>
          <p:cNvPr id="9" name="IC4"/>
          <p:cNvSpPr/>
          <p:nvPr/>
        </p:nvSpPr>
        <p:spPr>
          <a:xfrm>
            <a:off x="365760" y="3657600"/>
            <a:ext cx="256032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7" name="INum4"/>
          <p:cNvSpPr/>
          <p:nvPr/>
        </p:nvSpPr>
        <p:spPr>
          <a:xfrm>
            <a:off x="365760" y="3657600"/>
            <a:ext cx="438912" cy="34747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8" name="IN4"/>
          <p:cNvSpPr/>
          <p:nvPr/>
        </p:nvSpPr>
        <p:spPr>
          <a:xfrm>
            <a:off x="365760" y="365760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05</a:t>
            </a:r>
          </a:p>
        </p:txBody>
      </p:sp>
      <p:sp>
        <p:nvSpPr>
          <p:cNvPr id="39" name="IT4"/>
          <p:cNvSpPr/>
          <p:nvPr/>
        </p:nvSpPr>
        <p:spPr>
          <a:xfrm>
            <a:off x="896112" y="3749040"/>
            <a:ext cx="1938240" cy="438912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</a:rPr>
              <a:t>Consistent Trend</a:t>
            </a:r>
          </a:p>
        </p:txBody>
      </p:sp>
      <p:sp>
        <p:nvSpPr>
          <p:cNvPr id="40" name="ID4"/>
          <p:cNvSpPr/>
          <p:nvPr/>
        </p:nvSpPr>
        <p:spPr>
          <a:xfrm>
            <a:off x="457200" y="41879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Content volume is stable year over year.</a:t>
            </a:r>
          </a:p>
        </p:txBody>
      </p:sp>
      <p:sp>
        <p:nvSpPr>
          <p:cNvPr id="10" name="IC5"/>
          <p:cNvSpPr/>
          <p:nvPr/>
        </p:nvSpPr>
        <p:spPr>
          <a:xfrm>
            <a:off x="3200400" y="3657600"/>
            <a:ext cx="256032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1" name="INum5"/>
          <p:cNvSpPr/>
          <p:nvPr/>
        </p:nvSpPr>
        <p:spPr>
          <a:xfrm>
            <a:off x="3200400" y="3657600"/>
            <a:ext cx="438912" cy="34747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2" name="IN5"/>
          <p:cNvSpPr/>
          <p:nvPr/>
        </p:nvSpPr>
        <p:spPr>
          <a:xfrm>
            <a:off x="3200400" y="365760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06</a:t>
            </a:r>
          </a:p>
        </p:txBody>
      </p:sp>
      <p:sp>
        <p:nvSpPr>
          <p:cNvPr id="43" name="IT5"/>
          <p:cNvSpPr/>
          <p:nvPr/>
        </p:nvSpPr>
        <p:spPr>
          <a:xfrm>
            <a:off x="3730752" y="3749040"/>
            <a:ext cx="1938240" cy="438912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</a:rPr>
              <a:t>90-Min Runtime</a:t>
            </a:r>
          </a:p>
        </p:txBody>
      </p:sp>
      <p:sp>
        <p:nvSpPr>
          <p:cNvPr id="44" name="ID5"/>
          <p:cNvSpPr/>
          <p:nvPr/>
        </p:nvSpPr>
        <p:spPr>
          <a:xfrm>
            <a:off x="3291840" y="41879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Most movies run 90-100 minutes long.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144BE9-ABF9-D194-0ABF-84028BE523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000"/>
          <a:stretch>
            <a:fillRect/>
          </a:stretch>
        </p:blipFill>
        <p:spPr>
          <a:xfrm>
            <a:off x="5852160" y="1188720"/>
            <a:ext cx="30632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Step 12 — Challenges &amp; Conclusion</a:t>
            </a:r>
          </a:p>
        </p:txBody>
      </p:sp>
      <p:sp>
        <p:nvSpPr>
          <p:cNvPr id="40" name="LBg"/>
          <p:cNvSpPr/>
          <p:nvPr/>
        </p:nvSpPr>
        <p:spPr>
          <a:xfrm>
            <a:off x="365760" y="1006920"/>
            <a:ext cx="4114800" cy="37497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1" name="LTop"/>
          <p:cNvSpPr/>
          <p:nvPr/>
        </p:nvSpPr>
        <p:spPr>
          <a:xfrm>
            <a:off x="365760" y="1006920"/>
            <a:ext cx="41148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2" name="LTit"/>
          <p:cNvSpPr/>
          <p:nvPr/>
        </p:nvSpPr>
        <p:spPr>
          <a:xfrm>
            <a:off x="457200" y="1061784"/>
            <a:ext cx="3932160" cy="36576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Challenges Faced</a:t>
            </a:r>
          </a:p>
        </p:txBody>
      </p:sp>
      <p:sp>
        <p:nvSpPr>
          <p:cNvPr id="44" name="RBg"/>
          <p:cNvSpPr/>
          <p:nvPr/>
        </p:nvSpPr>
        <p:spPr>
          <a:xfrm>
            <a:off x="4663560" y="1006920"/>
            <a:ext cx="4114800" cy="37497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5" name="RTop"/>
          <p:cNvSpPr/>
          <p:nvPr/>
        </p:nvSpPr>
        <p:spPr>
          <a:xfrm>
            <a:off x="4663560" y="1006920"/>
            <a:ext cx="41148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6" name="RTit"/>
          <p:cNvSpPr/>
          <p:nvPr/>
        </p:nvSpPr>
        <p:spPr>
          <a:xfrm>
            <a:off x="4754880" y="1061784"/>
            <a:ext cx="3932160" cy="365760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Conclusion</a:t>
            </a:r>
          </a:p>
        </p:txBody>
      </p:sp>
      <p:sp>
        <p:nvSpPr>
          <p:cNvPr id="50" name="LR{j}"/>
          <p:cNvSpPr/>
          <p:nvPr/>
        </p:nvSpPr>
        <p:spPr>
          <a:xfrm>
            <a:off x="365760" y="1518120"/>
            <a:ext cx="4114800" cy="5846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60" name="RR{j}"/>
          <p:cNvSpPr/>
          <p:nvPr/>
        </p:nvSpPr>
        <p:spPr>
          <a:xfrm>
            <a:off x="4663560" y="1518120"/>
            <a:ext cx="4114800" cy="5846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70" name="Dot{j}"/>
          <p:cNvSpPr/>
          <p:nvPr/>
        </p:nvSpPr>
        <p:spPr>
          <a:xfrm>
            <a:off x="457200" y="1737576"/>
            <a:ext cx="91440" cy="91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0" name="CH0"/>
          <p:cNvSpPr/>
          <p:nvPr/>
        </p:nvSpPr>
        <p:spPr>
          <a:xfrm>
            <a:off x="639360" y="1572984"/>
            <a:ext cx="3749760" cy="47548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Column name mismatches (KeyError)</a:t>
            </a:r>
          </a:p>
        </p:txBody>
      </p:sp>
      <p:sp>
        <p:nvSpPr>
          <p:cNvPr id="90" name="Dot2{j}"/>
          <p:cNvSpPr/>
          <p:nvPr/>
        </p:nvSpPr>
        <p:spPr>
          <a:xfrm>
            <a:off x="4754880" y="1737576"/>
            <a:ext cx="91440" cy="9144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00" name="CO0"/>
          <p:cNvSpPr/>
          <p:nvPr/>
        </p:nvSpPr>
        <p:spPr>
          <a:xfrm>
            <a:off x="4937040" y="1572984"/>
            <a:ext cx="3749760" cy="47548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Successfully built 2 professional dashboards</a:t>
            </a:r>
          </a:p>
        </p:txBody>
      </p:sp>
      <p:sp>
        <p:nvSpPr>
          <p:cNvPr id="51" name="LR{j}"/>
          <p:cNvSpPr/>
          <p:nvPr/>
        </p:nvSpPr>
        <p:spPr>
          <a:xfrm>
            <a:off x="365760" y="2102760"/>
            <a:ext cx="4114800" cy="5846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1" name="RR{j}"/>
          <p:cNvSpPr/>
          <p:nvPr/>
        </p:nvSpPr>
        <p:spPr>
          <a:xfrm>
            <a:off x="4663560" y="2102760"/>
            <a:ext cx="4114800" cy="5846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71" name="Dot{j}"/>
          <p:cNvSpPr/>
          <p:nvPr/>
        </p:nvSpPr>
        <p:spPr>
          <a:xfrm>
            <a:off x="457200" y="2322216"/>
            <a:ext cx="91440" cy="91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1" name="CH1"/>
          <p:cNvSpPr/>
          <p:nvPr/>
        </p:nvSpPr>
        <p:spPr>
          <a:xfrm>
            <a:off x="639360" y="2157624"/>
            <a:ext cx="3749760" cy="47548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Missing 'director' &amp; 'date_added' columns</a:t>
            </a:r>
          </a:p>
        </p:txBody>
      </p:sp>
      <p:sp>
        <p:nvSpPr>
          <p:cNvPr id="91" name="Dot2{j}"/>
          <p:cNvSpPr/>
          <p:nvPr/>
        </p:nvSpPr>
        <p:spPr>
          <a:xfrm>
            <a:off x="4754880" y="2322216"/>
            <a:ext cx="91440" cy="9144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01" name="CO1"/>
          <p:cNvSpPr/>
          <p:nvPr/>
        </p:nvSpPr>
        <p:spPr>
          <a:xfrm>
            <a:off x="4937040" y="2157624"/>
            <a:ext cx="3749760" cy="47548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Fixed all dataset column errors step by step</a:t>
            </a:r>
          </a:p>
        </p:txBody>
      </p:sp>
      <p:sp>
        <p:nvSpPr>
          <p:cNvPr id="52" name="LR{j}"/>
          <p:cNvSpPr/>
          <p:nvPr/>
        </p:nvSpPr>
        <p:spPr>
          <a:xfrm>
            <a:off x="365760" y="2687400"/>
            <a:ext cx="4114800" cy="5846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62" name="RR{j}"/>
          <p:cNvSpPr/>
          <p:nvPr/>
        </p:nvSpPr>
        <p:spPr>
          <a:xfrm>
            <a:off x="4663560" y="2687400"/>
            <a:ext cx="4114800" cy="5846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72" name="Dot{j}"/>
          <p:cNvSpPr/>
          <p:nvPr/>
        </p:nvSpPr>
        <p:spPr>
          <a:xfrm>
            <a:off x="457200" y="2906856"/>
            <a:ext cx="91440" cy="91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2" name="CH2"/>
          <p:cNvSpPr/>
          <p:nvPr/>
        </p:nvSpPr>
        <p:spPr>
          <a:xfrm>
            <a:off x="639360" y="2742264"/>
            <a:ext cx="3749760" cy="47548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fillna() FutureWarning with newer Pandas</a:t>
            </a:r>
          </a:p>
        </p:txBody>
      </p:sp>
      <p:sp>
        <p:nvSpPr>
          <p:cNvPr id="92" name="Dot2{j}"/>
          <p:cNvSpPr/>
          <p:nvPr/>
        </p:nvSpPr>
        <p:spPr>
          <a:xfrm>
            <a:off x="4754880" y="2906856"/>
            <a:ext cx="91440" cy="9144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02" name="CO2"/>
          <p:cNvSpPr/>
          <p:nvPr/>
        </p:nvSpPr>
        <p:spPr>
          <a:xfrm>
            <a:off x="4937040" y="2742264"/>
            <a:ext cx="3749760" cy="47548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Used Pandas &amp; Matplotlib for full analysis</a:t>
            </a:r>
          </a:p>
        </p:txBody>
      </p:sp>
      <p:sp>
        <p:nvSpPr>
          <p:cNvPr id="53" name="LR{j}"/>
          <p:cNvSpPr/>
          <p:nvPr/>
        </p:nvSpPr>
        <p:spPr>
          <a:xfrm>
            <a:off x="365760" y="3272040"/>
            <a:ext cx="4114800" cy="5846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3" name="RR{j}"/>
          <p:cNvSpPr/>
          <p:nvPr/>
        </p:nvSpPr>
        <p:spPr>
          <a:xfrm>
            <a:off x="4663560" y="3272040"/>
            <a:ext cx="4114800" cy="5846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73" name="Dot{j}"/>
          <p:cNvSpPr/>
          <p:nvPr/>
        </p:nvSpPr>
        <p:spPr>
          <a:xfrm>
            <a:off x="457200" y="3491496"/>
            <a:ext cx="91440" cy="91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3" name="CH3"/>
          <p:cNvSpPr/>
          <p:nvPr/>
        </p:nvSpPr>
        <p:spPr>
          <a:xfrm>
            <a:off x="639360" y="3326904"/>
            <a:ext cx="3749760" cy="47548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Charts showing 0 Axes when savefig order wrong</a:t>
            </a:r>
          </a:p>
        </p:txBody>
      </p:sp>
      <p:sp>
        <p:nvSpPr>
          <p:cNvPr id="93" name="Dot2{j}"/>
          <p:cNvSpPr/>
          <p:nvPr/>
        </p:nvSpPr>
        <p:spPr>
          <a:xfrm>
            <a:off x="4754880" y="3491496"/>
            <a:ext cx="91440" cy="9144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03" name="CO3"/>
          <p:cNvSpPr/>
          <p:nvPr/>
        </p:nvSpPr>
        <p:spPr>
          <a:xfrm>
            <a:off x="4937040" y="3326904"/>
            <a:ext cx="3749760" cy="47548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Applied value_counts, groupby, and filtering</a:t>
            </a:r>
          </a:p>
        </p:txBody>
      </p:sp>
      <p:sp>
        <p:nvSpPr>
          <p:cNvPr id="54" name="LR{j}"/>
          <p:cNvSpPr/>
          <p:nvPr/>
        </p:nvSpPr>
        <p:spPr>
          <a:xfrm>
            <a:off x="365760" y="3856680"/>
            <a:ext cx="4114800" cy="5846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64" name="RR{j}"/>
          <p:cNvSpPr/>
          <p:nvPr/>
        </p:nvSpPr>
        <p:spPr>
          <a:xfrm>
            <a:off x="4663560" y="3856680"/>
            <a:ext cx="4114800" cy="5846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74" name="Dot{j}"/>
          <p:cNvSpPr/>
          <p:nvPr/>
        </p:nvSpPr>
        <p:spPr>
          <a:xfrm>
            <a:off x="457200" y="4076136"/>
            <a:ext cx="91440" cy="91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4" name="CH4"/>
          <p:cNvSpPr/>
          <p:nvPr/>
        </p:nvSpPr>
        <p:spPr>
          <a:xfrm>
            <a:off x="639360" y="3911544"/>
            <a:ext cx="3749760" cy="47548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Replacing listed_in → genre throughout code</a:t>
            </a:r>
          </a:p>
        </p:txBody>
      </p:sp>
      <p:sp>
        <p:nvSpPr>
          <p:cNvPr id="94" name="Dot2{j}"/>
          <p:cNvSpPr/>
          <p:nvPr/>
        </p:nvSpPr>
        <p:spPr>
          <a:xfrm>
            <a:off x="4754880" y="4076136"/>
            <a:ext cx="91440" cy="9144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04" name="CO4"/>
          <p:cNvSpPr/>
          <p:nvPr/>
        </p:nvSpPr>
        <p:spPr>
          <a:xfrm>
            <a:off x="4937040" y="3911544"/>
            <a:ext cx="3749760" cy="475488"/>
          </a:xfrm>
          <a:prstGeom prst="rect">
            <a:avLst/>
          </a:prstGeom>
          <a:noFill/>
          <a:ln/>
        </p:spPr>
        <p:txBody>
          <a:bodyPr wrap="square" lIns="0" t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Saved dashboards as high-quality PNG files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38399" y="3920490"/>
            <a:ext cx="9144000" cy="125730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3840480"/>
            <a:ext cx="914400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rgbClr val="E50914"/>
                </a:solidFill>
                <a:latin typeface="Calibri" pitchFamily="34" charset="0"/>
              </a:rPr>
              <a:t>Netflix Data Analysis Project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AAAAAA"/>
                </a:solidFill>
                <a:latin typeface="Calibri" pitchFamily="34" charset="0"/>
              </a:rPr>
              <a:t>Built with  Python  •  Pandas  •  Matplotlib</a:t>
            </a:r>
          </a:p>
        </p:txBody>
      </p:sp>
      <p:sp>
        <p:nvSpPr>
          <p:cNvPr id="8" name="Text 6"/>
          <p:cNvSpPr/>
          <p:nvPr/>
        </p:nvSpPr>
        <p:spPr>
          <a:xfrm>
            <a:off x="521242" y="4017327"/>
            <a:ext cx="128597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lnSpc>
                <a:spcPts val="2701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6294653977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97C86B6F-8C77-8885-41F2-81A92CF5379C}"/>
              </a:ext>
            </a:extLst>
          </p:cNvPr>
          <p:cNvSpPr txBox="1"/>
          <p:nvPr/>
        </p:nvSpPr>
        <p:spPr>
          <a:xfrm>
            <a:off x="4288528" y="4095352"/>
            <a:ext cx="1856573" cy="256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5"/>
              </a:lnSpc>
            </a:pPr>
            <a:r>
              <a:rPr lang="en-US" sz="12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Berhampore ,West Bengal</a:t>
            </a:r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4F885968-02D7-15DF-FA70-C03FE81E287B}"/>
              </a:ext>
            </a:extLst>
          </p:cNvPr>
          <p:cNvSpPr/>
          <p:nvPr/>
        </p:nvSpPr>
        <p:spPr>
          <a:xfrm>
            <a:off x="1743173" y="4089372"/>
            <a:ext cx="288318" cy="288318"/>
          </a:xfrm>
          <a:custGeom>
            <a:avLst/>
            <a:gdLst/>
            <a:ahLst/>
            <a:cxnLst/>
            <a:rect l="l" t="t" r="r" b="b"/>
            <a:pathLst>
              <a:path w="288318" h="288318">
                <a:moveTo>
                  <a:pt x="0" y="0"/>
                </a:moveTo>
                <a:lnTo>
                  <a:pt x="288318" y="0"/>
                </a:lnTo>
                <a:lnTo>
                  <a:pt x="288318" y="288317"/>
                </a:lnTo>
                <a:lnTo>
                  <a:pt x="0" y="28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4AC65983-F2F2-F39E-F9F9-D86148B68528}"/>
              </a:ext>
            </a:extLst>
          </p:cNvPr>
          <p:cNvSpPr/>
          <p:nvPr/>
        </p:nvSpPr>
        <p:spPr>
          <a:xfrm>
            <a:off x="258393" y="4089372"/>
            <a:ext cx="288318" cy="288318"/>
          </a:xfrm>
          <a:custGeom>
            <a:avLst/>
            <a:gdLst/>
            <a:ahLst/>
            <a:cxnLst/>
            <a:rect l="l" t="t" r="r" b="b"/>
            <a:pathLst>
              <a:path w="288318" h="288318">
                <a:moveTo>
                  <a:pt x="0" y="0"/>
                </a:moveTo>
                <a:lnTo>
                  <a:pt x="288318" y="0"/>
                </a:lnTo>
                <a:lnTo>
                  <a:pt x="288318" y="288317"/>
                </a:lnTo>
                <a:lnTo>
                  <a:pt x="0" y="28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15">
            <a:extLst>
              <a:ext uri="{FF2B5EF4-FFF2-40B4-BE49-F238E27FC236}">
                <a16:creationId xmlns:a16="http://schemas.microsoft.com/office/drawing/2014/main" id="{71A41E8A-B200-F0BE-7D31-7C89B8EAF103}"/>
              </a:ext>
            </a:extLst>
          </p:cNvPr>
          <p:cNvSpPr/>
          <p:nvPr/>
        </p:nvSpPr>
        <p:spPr>
          <a:xfrm>
            <a:off x="3948056" y="4097210"/>
            <a:ext cx="280480" cy="280480"/>
          </a:xfrm>
          <a:custGeom>
            <a:avLst/>
            <a:gdLst/>
            <a:ahLst/>
            <a:cxnLst/>
            <a:rect l="l" t="t" r="r" b="b"/>
            <a:pathLst>
              <a:path w="280480" h="280480">
                <a:moveTo>
                  <a:pt x="0" y="0"/>
                </a:moveTo>
                <a:lnTo>
                  <a:pt x="280480" y="0"/>
                </a:lnTo>
                <a:lnTo>
                  <a:pt x="280480" y="280480"/>
                </a:lnTo>
                <a:lnTo>
                  <a:pt x="0" y="280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C63465F4-6B60-0788-8E9F-0E68CF3602C3}"/>
              </a:ext>
            </a:extLst>
          </p:cNvPr>
          <p:cNvSpPr txBox="1"/>
          <p:nvPr/>
        </p:nvSpPr>
        <p:spPr>
          <a:xfrm>
            <a:off x="2122511" y="4045523"/>
            <a:ext cx="1821792" cy="294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sz="1200" dirty="0">
                <a:latin typeface="Arimo"/>
                <a:ea typeface="Arimo"/>
                <a:cs typeface="Arimo"/>
                <a:sym typeface="Arimo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rimi.singha01@gmail.com</a:t>
            </a:r>
            <a:endParaRPr lang="en-US" sz="1200" dirty="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ADAC77B-1ABE-A6C9-6A3F-3718C371460D}"/>
              </a:ext>
            </a:extLst>
          </p:cNvPr>
          <p:cNvSpPr/>
          <p:nvPr/>
        </p:nvSpPr>
        <p:spPr>
          <a:xfrm>
            <a:off x="6145101" y="4132637"/>
            <a:ext cx="344225" cy="2286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85467F1D-66BF-76BB-AFDC-8EE2A8C739BE}"/>
              </a:ext>
            </a:extLst>
          </p:cNvPr>
          <p:cNvSpPr/>
          <p:nvPr/>
        </p:nvSpPr>
        <p:spPr>
          <a:xfrm>
            <a:off x="6183500" y="4165393"/>
            <a:ext cx="280495" cy="166985"/>
          </a:xfrm>
          <a:custGeom>
            <a:avLst/>
            <a:gdLst/>
            <a:ahLst/>
            <a:cxnLst/>
            <a:rect l="l" t="t" r="r" b="b"/>
            <a:pathLst>
              <a:path w="421928" h="210964">
                <a:moveTo>
                  <a:pt x="0" y="0"/>
                </a:moveTo>
                <a:lnTo>
                  <a:pt x="421929" y="0"/>
                </a:lnTo>
                <a:lnTo>
                  <a:pt x="421929" y="210964"/>
                </a:lnTo>
                <a:lnTo>
                  <a:pt x="0" y="210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DE42732-DED5-AAC9-B2C1-B0CF79397DEC}"/>
              </a:ext>
            </a:extLst>
          </p:cNvPr>
          <p:cNvSpPr txBox="1"/>
          <p:nvPr/>
        </p:nvSpPr>
        <p:spPr>
          <a:xfrm>
            <a:off x="6527725" y="3989169"/>
            <a:ext cx="2616275" cy="362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359"/>
              </a:lnSpc>
              <a:spcBef>
                <a:spcPct val="0"/>
              </a:spcBef>
            </a:pPr>
            <a:r>
              <a:rPr lang="en-US" sz="1100" dirty="0">
                <a:hlinkClick r:id="rId8" tooltip="www.linkedin.com/in/rimi-singha-3093b532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www.linkedin.com/in/rimi-singha-3093b532b</a:t>
            </a:r>
            <a:endParaRPr lang="en-US" sz="1400" b="1" u="none" strike="noStrike" dirty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188</TotalTime>
  <Words>1280</Words>
  <Application>Microsoft Office PowerPoint</Application>
  <PresentationFormat>On-screen Show (16:9)</PresentationFormat>
  <Paragraphs>259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Arimo</vt:lpstr>
      <vt:lpstr>Arimo Italics</vt:lpstr>
      <vt:lpstr>Calibri</vt:lpstr>
      <vt:lpstr>Calibri Light</vt:lpstr>
      <vt:lpstr>Consolas</vt:lpstr>
      <vt:lpstr>Poppins Medium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Python Analysis</dc:title>
  <dc:subject>PptxGenJS Presentation</dc:subject>
  <dc:creator>PptxGenJS</dc:creator>
  <cp:lastModifiedBy>Rimi Singha</cp:lastModifiedBy>
  <cp:revision>4</cp:revision>
  <dcterms:created xsi:type="dcterms:W3CDTF">2026-04-11T12:22:10Z</dcterms:created>
  <dcterms:modified xsi:type="dcterms:W3CDTF">2026-04-11T19:39:41Z</dcterms:modified>
</cp:coreProperties>
</file>